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4"/>
  </p:notesMasterIdLst>
  <p:sldIdLst>
    <p:sldId id="256" r:id="rId3"/>
    <p:sldId id="257" r:id="rId4"/>
    <p:sldId id="268" r:id="rId5"/>
    <p:sldId id="291" r:id="rId6"/>
    <p:sldId id="258" r:id="rId7"/>
    <p:sldId id="259" r:id="rId8"/>
    <p:sldId id="263" r:id="rId9"/>
    <p:sldId id="261" r:id="rId10"/>
    <p:sldId id="264" r:id="rId11"/>
    <p:sldId id="269" r:id="rId12"/>
    <p:sldId id="265" r:id="rId13"/>
    <p:sldId id="267" r:id="rId14"/>
    <p:sldId id="271" r:id="rId15"/>
    <p:sldId id="273" r:id="rId16"/>
    <p:sldId id="272" r:id="rId17"/>
    <p:sldId id="270" r:id="rId18"/>
    <p:sldId id="275" r:id="rId19"/>
    <p:sldId id="278" r:id="rId20"/>
    <p:sldId id="276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90" r:id="rId31"/>
    <p:sldId id="295" r:id="rId32"/>
    <p:sldId id="289" r:id="rId33"/>
    <p:sldId id="300" r:id="rId34"/>
    <p:sldId id="301" r:id="rId35"/>
    <p:sldId id="274" r:id="rId36"/>
    <p:sldId id="279" r:id="rId37"/>
    <p:sldId id="277" r:id="rId38"/>
    <p:sldId id="294" r:id="rId39"/>
    <p:sldId id="293" r:id="rId40"/>
    <p:sldId id="296" r:id="rId41"/>
    <p:sldId id="298" r:id="rId42"/>
    <p:sldId id="266" r:id="rId43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47" d="100"/>
          <a:sy n="147" d="100"/>
        </p:scale>
        <p:origin x="120" y="23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6411"/>
          </a:xfrm>
          <a:prstGeom prst="rect">
            <a:avLst/>
          </a:prstGeom>
        </p:spPr>
        <p:txBody>
          <a:bodyPr vert="horz" lIns="91439" tIns="45720" rIns="91439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60" cy="496411"/>
          </a:xfrm>
          <a:prstGeom prst="rect">
            <a:avLst/>
          </a:prstGeom>
        </p:spPr>
        <p:txBody>
          <a:bodyPr vert="horz" lIns="91439" tIns="45720" rIns="91439" bIns="45720" rtlCol="0"/>
          <a:lstStyle>
            <a:lvl1pPr algn="r">
              <a:defRPr sz="1200"/>
            </a:lvl1pPr>
          </a:lstStyle>
          <a:p>
            <a:fld id="{C7FD2924-D280-4505-BAC6-AD9B19A15CC3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9" tIns="45720" rIns="91439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39" tIns="45720" rIns="91439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60" cy="496411"/>
          </a:xfrm>
          <a:prstGeom prst="rect">
            <a:avLst/>
          </a:prstGeom>
        </p:spPr>
        <p:txBody>
          <a:bodyPr vert="horz" lIns="91439" tIns="45720" rIns="91439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60" cy="496411"/>
          </a:xfrm>
          <a:prstGeom prst="rect">
            <a:avLst/>
          </a:prstGeom>
        </p:spPr>
        <p:txBody>
          <a:bodyPr vert="horz" lIns="91439" tIns="45720" rIns="91439" bIns="45720" rtlCol="0" anchor="b"/>
          <a:lstStyle>
            <a:lvl1pPr algn="r">
              <a:defRPr sz="1200"/>
            </a:lvl1pPr>
          </a:lstStyle>
          <a:p>
            <a:fld id="{006801D2-EBE6-42D3-BD0D-EFDB94422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64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46B033-409F-4DD7-9B05-7DB411F8F62C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378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#0:</a:t>
            </a:r>
            <a:r>
              <a:rPr lang="en-US" altLang="ko-KR" baseline="0" dirty="0"/>
              <a:t> attribute groups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801D2-EBE6-42D3-BD0D-EFDB944223E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412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#0:</a:t>
            </a:r>
            <a:r>
              <a:rPr lang="en-US" altLang="ko-KR" baseline="0" dirty="0"/>
              <a:t> attribute groups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801D2-EBE6-42D3-BD0D-EFDB944223EA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30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030A-28C9-4AA6-9564-7355F2F06A57}" type="datetime1">
              <a:rPr lang="ko-KR" altLang="en-US" smtClean="0"/>
              <a:t>2026-10-26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77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522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05B7-D8F1-4AB2-815F-B5764F6CE49F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736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2A14C-B1E0-4FEF-A05F-72154AB14455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36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6CA7-359E-4B5D-91F3-6B3B9A5EED8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803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82C6A-3284-451C-BFBD-D3E6B47C2A82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77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0B8E-6B5C-4492-A32D-82C93727986C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037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3ABBB-793D-4587-9055-908626D07AE3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783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126C1-F9FB-4935-B547-5805BAE95E9E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847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2A64-17FC-4D1B-A4C5-869316C2C14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8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FC80-6EA7-47D6-BABE-A62610B56D28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242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7290" y="2130425"/>
            <a:ext cx="6429420" cy="1470025"/>
          </a:xfrm>
        </p:spPr>
        <p:txBody>
          <a:bodyPr/>
          <a:lstStyle>
            <a:lvl1pPr>
              <a:defRPr sz="2800">
                <a:solidFill>
                  <a:srgbClr val="003399"/>
                </a:solidFill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90012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9042D-A2D0-47F1-BD09-2140B0207211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2026-10-26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Tutorial for LLVM Intermediate Representation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8AEC-0EBD-4D08-946B-2BA73178EF5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2143108" y="714356"/>
            <a:ext cx="59170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3399"/>
                </a:solidFill>
                <a:latin typeface="Arial"/>
              </a:rPr>
              <a:t>CS492B </a:t>
            </a:r>
            <a:br>
              <a:rPr lang="en-US" altLang="ko-KR" sz="2800" b="1" dirty="0">
                <a:solidFill>
                  <a:srgbClr val="003399"/>
                </a:solidFill>
                <a:latin typeface="Arial"/>
              </a:rPr>
            </a:br>
            <a:r>
              <a:rPr lang="en-US" altLang="ko-KR" sz="2800" b="1" dirty="0">
                <a:solidFill>
                  <a:srgbClr val="003399"/>
                </a:solidFill>
                <a:latin typeface="Arial"/>
              </a:rPr>
              <a:t>Analysis of Concurrent Programs</a:t>
            </a:r>
            <a:endParaRPr lang="ko-KR" altLang="en-US" sz="2800" b="1" dirty="0">
              <a:solidFill>
                <a:srgbClr val="003399"/>
              </a:solidFill>
              <a:latin typeface="Arial"/>
            </a:endParaRPr>
          </a:p>
        </p:txBody>
      </p:sp>
      <p:pic>
        <p:nvPicPr>
          <p:cNvPr id="9" name="Picture 8" descr="amd_barcelona_die_shot_medium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57224" y="714356"/>
            <a:ext cx="1296254" cy="1285884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500034" y="714356"/>
            <a:ext cx="285752" cy="128588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289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42862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714356"/>
            <a:ext cx="8229600" cy="571504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92-AD01-456F-8CCD-8F23BD5998B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2026-10-26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Tutorial for LLVM Intermediate Representation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8AEC-0EBD-4D08-946B-2BA73178EF5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 userDrawn="1"/>
        </p:nvSpPr>
        <p:spPr bwMode="auto">
          <a:xfrm>
            <a:off x="500034" y="642918"/>
            <a:ext cx="8229600" cy="0"/>
          </a:xfrm>
          <a:prstGeom prst="line">
            <a:avLst/>
          </a:prstGeom>
          <a:noFill/>
          <a:ln w="762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156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28670"/>
            <a:ext cx="4038600" cy="550072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28670"/>
            <a:ext cx="4038600" cy="550072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B536D-1753-4215-8DF9-C04AECA94CB2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2026-10-26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Tutorial for LLVM Intermediate Representation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8AEC-0EBD-4D08-946B-2BA73178EF5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 userDrawn="1"/>
        </p:nvSpPr>
        <p:spPr bwMode="auto">
          <a:xfrm>
            <a:off x="500034" y="857232"/>
            <a:ext cx="8229600" cy="0"/>
          </a:xfrm>
          <a:prstGeom prst="line">
            <a:avLst/>
          </a:prstGeom>
          <a:noFill/>
          <a:ln w="762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959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90649-3197-4FE3-A0A4-9A105BDBAEE8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2026-10-26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Tutorial for LLVM Intermediate Representation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8AEC-0EBD-4D08-946B-2BA73178EF5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traight Connector 5"/>
          <p:cNvSpPr>
            <a:spLocks noChangeShapeType="1"/>
          </p:cNvSpPr>
          <p:nvPr userDrawn="1"/>
        </p:nvSpPr>
        <p:spPr bwMode="auto">
          <a:xfrm>
            <a:off x="500034" y="857232"/>
            <a:ext cx="8229600" cy="0"/>
          </a:xfrm>
          <a:prstGeom prst="line">
            <a:avLst/>
          </a:prstGeom>
          <a:noFill/>
          <a:ln w="762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846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23A6-BEE7-47D9-971B-9680AF85B674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2026-10-26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Tutorial for LLVM Intermediate Representation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8AEC-0EBD-4D08-946B-2BA73178EF5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30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2425" y="341313"/>
            <a:ext cx="7648575" cy="8318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90613" y="1314450"/>
            <a:ext cx="3376612" cy="46783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19625" y="1314450"/>
            <a:ext cx="3378200" cy="46783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553200"/>
            <a:ext cx="18288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1F8D562-3255-4B23-A99D-3F47AD6FE6D0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2026-10-26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2590800" y="6616700"/>
            <a:ext cx="36576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Tutorial for LLVM Intermediate Representation 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772400" y="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L24-</a:t>
            </a:r>
            <a:fld id="{D68BA281-C415-4EFF-BB7B-1F43A2FB4DF6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58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DF68B58-71AB-438A-852A-D262459D036E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468512" y="6356350"/>
            <a:ext cx="620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812360" y="6356350"/>
            <a:ext cx="4251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EE6AC68-1C69-421E-B036-4DAA2329A56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8172400" y="6381328"/>
            <a:ext cx="755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/37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15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28670"/>
            <a:ext cx="8229600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00834"/>
            <a:ext cx="2133600" cy="22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AEC0A-512F-40E4-9D4F-982153B53611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2026-10-26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00834"/>
            <a:ext cx="2895600" cy="22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Tutorial for LLVM Intermediate Representation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00834"/>
            <a:ext cx="2133600" cy="22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E8AEC-0EBD-4D08-946B-2BA73178EF5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KAIST_뒷배경 흰색.gi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858116" y="142852"/>
            <a:ext cx="1285884" cy="357190"/>
          </a:xfrm>
          <a:prstGeom prst="rect">
            <a:avLst/>
          </a:prstGeom>
        </p:spPr>
      </p:pic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428596" y="6643710"/>
            <a:ext cx="8229600" cy="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22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3200" b="1" kern="1200">
          <a:solidFill>
            <a:srgbClr val="003399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llvm.org/docs/Passes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95536" y="2132856"/>
            <a:ext cx="8496944" cy="1971650"/>
          </a:xfrm>
        </p:spPr>
        <p:txBody>
          <a:bodyPr>
            <a:noAutofit/>
          </a:bodyPr>
          <a:lstStyle/>
          <a:p>
            <a:r>
              <a:rPr lang="en-US" altLang="ko-KR" sz="3600" dirty="0"/>
              <a:t>Tutorial for LLVM Intermediate Representation </a:t>
            </a:r>
            <a:endParaRPr lang="ko-KR" altLang="en-US" sz="36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4531568"/>
            <a:ext cx="6400800" cy="1201688"/>
          </a:xfrm>
        </p:spPr>
        <p:txBody>
          <a:bodyPr>
            <a:normAutofit/>
          </a:bodyPr>
          <a:lstStyle/>
          <a:p>
            <a:r>
              <a:rPr lang="en-US" altLang="ko-KR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Prof. </a:t>
            </a:r>
            <a:r>
              <a:rPr lang="en-US" altLang="ko-KR" sz="3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Moonzoo</a:t>
            </a:r>
            <a:r>
              <a:rPr lang="en-US" altLang="ko-KR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Kim</a:t>
            </a:r>
          </a:p>
          <a:p>
            <a:r>
              <a:rPr lang="en-US" altLang="ko-KR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 Dept., KAIST</a:t>
            </a:r>
            <a:endParaRPr lang="ko-KR" altLang="en-US" sz="3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07281-C594-49E1-931C-993FD6DEDE1F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79512" y="6093296"/>
            <a:ext cx="8712968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042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413792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Motivation for Learning LLVM Low-level Language (i.e., Handling Intermediate Representation)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783357"/>
            <a:ext cx="9144000" cy="4525963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800"/>
              </a:spcBef>
            </a:pPr>
            <a:r>
              <a:rPr lang="en-US" altLang="ko-KR" sz="2800" dirty="0"/>
              <a:t>Biologists know how to </a:t>
            </a:r>
            <a:r>
              <a:rPr lang="en-US" altLang="ko-KR" sz="2800" b="1" u="sng" dirty="0"/>
              <a:t>analyze</a:t>
            </a:r>
            <a:r>
              <a:rPr lang="en-US" altLang="ko-KR" sz="2800" dirty="0"/>
              <a:t> laboratory mice.  In addition, they know how to </a:t>
            </a:r>
            <a:r>
              <a:rPr lang="en-US" altLang="ko-KR" sz="2800" b="1" u="sng" dirty="0"/>
              <a:t>modify</a:t>
            </a:r>
            <a:r>
              <a:rPr lang="en-US" altLang="ko-KR" sz="2800" dirty="0"/>
              <a:t> the mice by applying new medicine or artificial organ</a:t>
            </a:r>
            <a:endParaRPr lang="ko-KR" altLang="en-US" sz="2400" dirty="0"/>
          </a:p>
          <a:p>
            <a:pPr>
              <a:spcBef>
                <a:spcPts val="1800"/>
              </a:spcBef>
            </a:pPr>
            <a:r>
              <a:rPr lang="en-US" altLang="ko-KR" sz="2800" dirty="0"/>
              <a:t>Mechanical engineers know how to analyze and modify mechanical products using CAD </a:t>
            </a:r>
            <a:r>
              <a:rPr lang="en-US" altLang="ko-KR" sz="2800" b="1" u="sng" dirty="0"/>
              <a:t>tools</a:t>
            </a:r>
            <a:r>
              <a:rPr lang="en-US" altLang="ko-KR" sz="2800" dirty="0"/>
              <a:t>. </a:t>
            </a:r>
            <a:endParaRPr lang="en-US" altLang="ko-KR" sz="2800" b="1" u="sng" dirty="0"/>
          </a:p>
          <a:p>
            <a:pPr>
              <a:spcBef>
                <a:spcPts val="1800"/>
              </a:spcBef>
            </a:pPr>
            <a:r>
              <a:rPr lang="en-US" altLang="ko-KR" sz="2800" dirty="0"/>
              <a:t>Software engineers also have to know how to analyze and modify software code which is far more complex than any engineering product.  Thus, software analysis/modification requires </a:t>
            </a:r>
            <a:r>
              <a:rPr lang="en-US" altLang="ko-KR" sz="2800" b="1" u="sng" dirty="0"/>
              <a:t>automated analysis tools. </a:t>
            </a:r>
          </a:p>
          <a:p>
            <a:pPr lvl="1">
              <a:spcBef>
                <a:spcPts val="1800"/>
              </a:spcBef>
            </a:pPr>
            <a:r>
              <a:rPr lang="en-US" altLang="ko-KR" sz="2400" dirty="0"/>
              <a:t>Using source level analysis framework (e.g., Clang, C Intermediate Language (CIL), EDG parser)</a:t>
            </a:r>
          </a:p>
          <a:p>
            <a:pPr lvl="1">
              <a:spcBef>
                <a:spcPts val="1800"/>
              </a:spcBef>
            </a:pPr>
            <a:r>
              <a:rPr lang="en-US" altLang="ko-KR" sz="2400" dirty="0"/>
              <a:t>Using low-level intermediate representation (IR) analysis framework (e.g., LLVM IR)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A7DB-55D9-4729-85D7-E7D6C30D80C4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6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LLVM is Professional Compiler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103" y="1412776"/>
            <a:ext cx="8435280" cy="4896544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Clang, the LLVM C/C++ front-end supports the full-features of C/C++ and compatible with GCC</a:t>
            </a:r>
          </a:p>
          <a:p>
            <a:endParaRPr lang="en-US" altLang="ko-KR" sz="1200" dirty="0"/>
          </a:p>
          <a:p>
            <a:r>
              <a:rPr lang="en-US" altLang="ko-KR" sz="2400" dirty="0"/>
              <a:t>The executable compiled by Clang/LLVM is as fast as the executable by GCC</a:t>
            </a:r>
          </a:p>
          <a:p>
            <a:endParaRPr lang="en-US" altLang="ko-KR" sz="12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CE299-BD43-4BCF-8355-CF484E9A3053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058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LLVM Compiler Infrastructure (1/2)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68960"/>
          </a:xfrm>
        </p:spPr>
        <p:txBody>
          <a:bodyPr>
            <a:normAutofit/>
          </a:bodyPr>
          <a:lstStyle/>
          <a:p>
            <a:r>
              <a:rPr lang="en-US" altLang="ko-KR" dirty="0"/>
              <a:t>Clang, the LLVM C/C++ front-end supports the full-features of C/C++ and compatible with GCC</a:t>
            </a:r>
            <a:endParaRPr lang="en-US" altLang="ko-KR" sz="1600" dirty="0"/>
          </a:p>
          <a:p>
            <a:r>
              <a:rPr lang="en-US" altLang="ko-KR" dirty="0"/>
              <a:t>The executable compiled by Clang/LLVM is as fast as the executable by GCC</a:t>
            </a:r>
          </a:p>
          <a:p>
            <a:pPr lvl="1"/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0" y="4869160"/>
            <a:ext cx="9031808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18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모서리가 둥근 직사각형 29"/>
          <p:cNvSpPr/>
          <p:nvPr/>
        </p:nvSpPr>
        <p:spPr>
          <a:xfrm>
            <a:off x="3096450" y="5517232"/>
            <a:ext cx="2827499" cy="1325761"/>
          </a:xfrm>
          <a:prstGeom prst="roundRect">
            <a:avLst>
              <a:gd name="adj" fmla="val 654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8783" y="332656"/>
            <a:ext cx="8229600" cy="864096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LLVM Compiler Infrastructure (2/2)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0121" y="1245684"/>
            <a:ext cx="8698383" cy="743156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A collection of modular compilers and analyzers written in C++ with STL.</a:t>
            </a:r>
          </a:p>
          <a:p>
            <a:r>
              <a:rPr lang="en-US" altLang="ko-KR" sz="2000" dirty="0"/>
              <a:t>LLVM provides hundreds Passes </a:t>
            </a:r>
            <a:r>
              <a:rPr lang="en-US" altLang="ko-KR" sz="1800" dirty="0">
                <a:hlinkClick r:id="rId2"/>
              </a:rPr>
              <a:t>http://llvm.org/docs/Passes.html</a:t>
            </a:r>
            <a:endParaRPr lang="en-US" altLang="ko-KR" sz="1800" dirty="0"/>
          </a:p>
          <a:p>
            <a:pPr lvl="1"/>
            <a:r>
              <a:rPr lang="en-US" altLang="ko-KR" sz="1800" dirty="0"/>
              <a:t>Analyzers</a:t>
            </a:r>
            <a:r>
              <a:rPr lang="en-US" altLang="ko-KR" sz="2000" dirty="0"/>
              <a:t>: </a:t>
            </a:r>
            <a:r>
              <a:rPr lang="en-US" altLang="ko-KR" sz="1800" dirty="0"/>
              <a:t>alias analysis, call graph constructions, dependence analysis, etc.</a:t>
            </a:r>
          </a:p>
          <a:p>
            <a:pPr lvl="1"/>
            <a:r>
              <a:rPr lang="en-US" altLang="ko-KR" sz="1800" dirty="0"/>
              <a:t>Transformers </a:t>
            </a:r>
            <a:r>
              <a:rPr lang="en-US" altLang="ko-KR" sz="2000" dirty="0"/>
              <a:t>:</a:t>
            </a:r>
            <a:r>
              <a:rPr lang="en-US" altLang="ko-KR" sz="1800" dirty="0"/>
              <a:t> dead code elimination, function inlining, constant propagation, loop unrolling, etc.</a:t>
            </a:r>
          </a:p>
          <a:p>
            <a:pPr lvl="1"/>
            <a:r>
              <a:rPr lang="en-US" altLang="ko-KR" sz="1800" dirty="0"/>
              <a:t>Utilities</a:t>
            </a:r>
            <a:r>
              <a:rPr lang="en-US" altLang="ko-KR" sz="2000" dirty="0"/>
              <a:t>:</a:t>
            </a:r>
            <a:r>
              <a:rPr lang="en-US" altLang="ko-KR" sz="1800" dirty="0"/>
              <a:t> CFG viewer, basic block extractor, etc.</a:t>
            </a:r>
          </a:p>
          <a:p>
            <a:pPr lvl="1"/>
            <a:endParaRPr lang="ko-KR" altLang="en-US" sz="2000" dirty="0"/>
          </a:p>
          <a:p>
            <a:endParaRPr lang="en-US" altLang="ko-KR" sz="18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3CFB-505E-4A5C-99AA-BACF9C1949BD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26" name="Picture 2" descr="[Retargetablity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871" y="3573016"/>
            <a:ext cx="5305425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3265757" y="6045178"/>
            <a:ext cx="416575" cy="357065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265757" y="5617785"/>
            <a:ext cx="416575" cy="357065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856549" y="6045178"/>
            <a:ext cx="416575" cy="357065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869886" y="5617785"/>
            <a:ext cx="416575" cy="357065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490096" y="6045178"/>
            <a:ext cx="416575" cy="357065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509932" y="5617785"/>
            <a:ext cx="416575" cy="357065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5338516" y="6045178"/>
            <a:ext cx="416575" cy="357065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5338516" y="5617785"/>
            <a:ext cx="416575" cy="357065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4978476" y="6034389"/>
            <a:ext cx="312979" cy="201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4978476" y="5606996"/>
            <a:ext cx="312979" cy="201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54496" y="6184619"/>
            <a:ext cx="128931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rgbClr val="0033CC"/>
                </a:solidFill>
                <a:latin typeface="Calibri" panose="020F0502020204030204" pitchFamily="34" charset="0"/>
              </a:rPr>
              <a:t>LLVM IR</a:t>
            </a:r>
            <a:endParaRPr lang="ko-KR" altLang="en-US" sz="2400" b="1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75978" y="6184010"/>
            <a:ext cx="134835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rgbClr val="0033CC"/>
                </a:solidFill>
                <a:latin typeface="Calibri" panose="020F0502020204030204" pitchFamily="34" charset="0"/>
              </a:rPr>
              <a:t>LLVM IR’</a:t>
            </a: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2813520" y="6415452"/>
            <a:ext cx="331482" cy="18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V="1">
            <a:off x="5868144" y="6414843"/>
            <a:ext cx="304955" cy="24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이등변 삼각형 32"/>
          <p:cNvSpPr/>
          <p:nvPr/>
        </p:nvSpPr>
        <p:spPr>
          <a:xfrm>
            <a:off x="4134291" y="4725144"/>
            <a:ext cx="437709" cy="846094"/>
          </a:xfrm>
          <a:prstGeom prst="triangle">
            <a:avLst>
              <a:gd name="adj" fmla="val 7680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1718314" y="4444818"/>
            <a:ext cx="64807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C++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27307" y="5058550"/>
            <a:ext cx="93610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Object-C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66778" y="3823547"/>
            <a:ext cx="93610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27784" y="3745744"/>
            <a:ext cx="936104" cy="348203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C Frontend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627784" y="4437352"/>
            <a:ext cx="958680" cy="22530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C++ Frontend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627784" y="4976716"/>
            <a:ext cx="958680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Object-C</a:t>
            </a:r>
            <a:b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 rot="16200000">
            <a:off x="1741040" y="5422576"/>
            <a:ext cx="2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 rot="16200000">
            <a:off x="6709592" y="5386573"/>
            <a:ext cx="2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3207420" y="6381328"/>
            <a:ext cx="2628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33CC"/>
                </a:solidFill>
                <a:latin typeface="Calibri" panose="020F0502020204030204" pitchFamily="34" charset="0"/>
              </a:rPr>
              <a:t>LLVM Passes</a:t>
            </a:r>
            <a:endParaRPr lang="ko-KR" altLang="en-US" sz="2400" b="1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18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7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20" grpId="0" animBg="1"/>
      <p:bldP spid="22" grpId="0" animBg="1"/>
      <p:bldP spid="23" grpId="0"/>
      <p:bldP spid="25" grpId="0"/>
      <p:bldP spid="8" grpId="0"/>
      <p:bldP spid="27" grpId="0"/>
      <p:bldP spid="33" grpId="0" animBg="1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926976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LLVM IR as Analysis Target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484784"/>
            <a:ext cx="8784976" cy="470912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400" dirty="0"/>
              <a:t>The LLVM IR of a program is a </a:t>
            </a:r>
            <a:r>
              <a:rPr lang="en-US" altLang="ko-KR" sz="2400" i="1" dirty="0"/>
              <a:t>better target for analysis and engineering </a:t>
            </a:r>
            <a:r>
              <a:rPr lang="en-US" altLang="ko-KR" sz="2400" dirty="0"/>
              <a:t>than the program source code.</a:t>
            </a:r>
          </a:p>
          <a:p>
            <a:pPr lvl="1"/>
            <a:r>
              <a:rPr lang="en-US" altLang="ko-KR" sz="2400" dirty="0"/>
              <a:t>Language-independent</a:t>
            </a:r>
          </a:p>
          <a:p>
            <a:pPr lvl="2"/>
            <a:r>
              <a:rPr lang="en-US" altLang="ko-KR" sz="2000" dirty="0"/>
              <a:t>Able to represent C/C++/Object-C programs</a:t>
            </a:r>
          </a:p>
          <a:p>
            <a:pPr lvl="1"/>
            <a:r>
              <a:rPr lang="en-US" altLang="ko-KR" sz="2400" dirty="0"/>
              <a:t>Simple</a:t>
            </a:r>
          </a:p>
          <a:p>
            <a:pPr lvl="2"/>
            <a:r>
              <a:rPr lang="en-US" altLang="ko-KR" sz="2000" dirty="0"/>
              <a:t>register machine</a:t>
            </a:r>
          </a:p>
          <a:p>
            <a:pPr lvl="3"/>
            <a:r>
              <a:rPr lang="en-US" altLang="ko-KR" sz="1600" dirty="0"/>
              <a:t>Infinite set of typed virtual registers</a:t>
            </a:r>
          </a:p>
          <a:p>
            <a:pPr lvl="3"/>
            <a:r>
              <a:rPr lang="en-US" altLang="ko-KR" sz="1600" dirty="0"/>
              <a:t>3-address form instruction</a:t>
            </a:r>
          </a:p>
          <a:p>
            <a:pPr lvl="3"/>
            <a:r>
              <a:rPr lang="en-US" altLang="ko-KR" sz="1600" dirty="0"/>
              <a:t>Only 31 instruction </a:t>
            </a:r>
            <a:r>
              <a:rPr lang="en-US" altLang="ko-KR" sz="1600" dirty="0" err="1"/>
              <a:t>opcodes</a:t>
            </a:r>
            <a:endParaRPr lang="en-US" altLang="ko-KR" sz="1600" dirty="0"/>
          </a:p>
          <a:p>
            <a:pPr lvl="2"/>
            <a:r>
              <a:rPr lang="en-US" altLang="ko-KR" sz="2000" dirty="0"/>
              <a:t>static single assignment (SSA)</a:t>
            </a:r>
          </a:p>
          <a:p>
            <a:pPr lvl="2"/>
            <a:r>
              <a:rPr lang="en-US" altLang="ko-KR" sz="2000" dirty="0"/>
              <a:t>composed as basic blocks</a:t>
            </a:r>
          </a:p>
          <a:p>
            <a:pPr lvl="1"/>
            <a:r>
              <a:rPr lang="en-US" altLang="ko-KR" sz="2400" dirty="0"/>
              <a:t>Informative</a:t>
            </a:r>
          </a:p>
          <a:p>
            <a:pPr lvl="2"/>
            <a:r>
              <a:rPr lang="en-US" altLang="ko-KR" sz="2000" dirty="0"/>
              <a:t>typed language</a:t>
            </a:r>
          </a:p>
          <a:p>
            <a:pPr lvl="2"/>
            <a:r>
              <a:rPr lang="en-US" altLang="ko-KR" sz="2000" dirty="0"/>
              <a:t>control-flow</a:t>
            </a:r>
          </a:p>
          <a:p>
            <a:r>
              <a:rPr lang="en-US" altLang="ko-KR" sz="2400" dirty="0"/>
              <a:t>LLVM IR is also called as LLVM language, assembly, </a:t>
            </a:r>
            <a:r>
              <a:rPr lang="en-US" altLang="ko-KR" sz="2400" dirty="0" err="1"/>
              <a:t>bitcode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bytecode</a:t>
            </a:r>
            <a:r>
              <a:rPr lang="en-US" altLang="ko-KR" sz="2400" dirty="0"/>
              <a:t>, code representation</a:t>
            </a:r>
          </a:p>
          <a:p>
            <a:pPr lvl="2"/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B591-FAE3-4FF9-8AC0-A51260853EB3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712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54618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LLVM IR At a Glance</a:t>
            </a:r>
            <a:endParaRPr lang="ko-KR" altLang="en-US" sz="36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5FB73-842F-4FB6-B266-27DC623DA568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17612" y="72463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i="1" dirty="0">
                <a:latin typeface="Calibri" panose="020F0502020204030204" pitchFamily="34" charset="0"/>
              </a:rPr>
              <a:t>C program language</a:t>
            </a:r>
            <a:endParaRPr lang="ko-KR" altLang="en-US" sz="2000" i="1" dirty="0"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0100" y="724634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i="1" dirty="0">
                <a:latin typeface="Calibri" panose="020F0502020204030204" pitchFamily="34" charset="0"/>
              </a:rPr>
              <a:t>LLVM IR</a:t>
            </a:r>
            <a:endParaRPr lang="ko-KR" altLang="en-US" sz="2000" i="1" dirty="0"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9620" y="1196752"/>
            <a:ext cx="275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</a:rPr>
              <a:t>Scope: </a:t>
            </a:r>
            <a:r>
              <a:rPr lang="en-US" altLang="ko-KR" sz="2000" i="1" dirty="0">
                <a:latin typeface="Calibri" panose="020F0502020204030204" pitchFamily="34" charset="0"/>
              </a:rPr>
              <a:t>file, function</a:t>
            </a:r>
            <a:endParaRPr lang="ko-KR" altLang="en-US" sz="2000" i="1" dirty="0"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38092" y="1196752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 dirty="0">
                <a:solidFill>
                  <a:srgbClr val="0033CC"/>
                </a:solidFill>
                <a:latin typeface="Calibri" panose="020F0502020204030204" pitchFamily="34" charset="0"/>
              </a:rPr>
              <a:t>module, function</a:t>
            </a:r>
            <a:endParaRPr lang="ko-KR" altLang="en-US" sz="2000" i="1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620" y="3219946"/>
            <a:ext cx="42484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</a:rPr>
              <a:t>Data-flow: </a:t>
            </a:r>
            <a:br>
              <a:rPr lang="en-US" altLang="ko-KR" sz="2000" dirty="0">
                <a:latin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</a:rPr>
              <a:t>a sequence of reads/writes on variables</a:t>
            </a:r>
            <a:endParaRPr lang="ko-KR" altLang="en-US" sz="2000" dirty="0"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38092" y="3140968"/>
            <a:ext cx="43924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  <a:t>1. load the values of memory addresses </a:t>
            </a:r>
            <a:b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</a:br>
            <a: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  <a:t>    (variables) to registers;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  <a:t>2. compute the values in registers;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  <a:t>3. store the values of registers to  </a:t>
            </a:r>
            <a:b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</a:br>
            <a: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  <a:t>     memory addresses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  <a:t>* each register must be assigned exactly </a:t>
            </a:r>
            <a:b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</a:br>
            <a: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  <a:t>   once (SSA)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620" y="5373216"/>
            <a:ext cx="4248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</a:rPr>
              <a:t>Control-flow in a function:</a:t>
            </a:r>
            <a:br>
              <a:rPr lang="en-US" altLang="ko-KR" sz="2000" dirty="0">
                <a:latin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</a:rPr>
              <a:t>if, for, while, do while, switch-case,…</a:t>
            </a:r>
            <a:endParaRPr lang="ko-KR" altLang="en-US" sz="2000" dirty="0"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38092" y="5452775"/>
            <a:ext cx="4498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  <a:t>A set of basic blocks each of which ends with a conditional jump (or return)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620" y="2361074"/>
            <a:ext cx="417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</a:rPr>
              <a:t>A statement with multiple expressions</a:t>
            </a:r>
            <a:endParaRPr lang="ko-KR" altLang="en-US" sz="200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38092" y="2361074"/>
            <a:ext cx="417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  <a:t>A sequence of instructions each of which is in a form of “x = y </a:t>
            </a:r>
            <a:r>
              <a:rPr lang="en-US" altLang="ko-KR" sz="2000" i="1" dirty="0">
                <a:solidFill>
                  <a:srgbClr val="0033CC"/>
                </a:solidFill>
                <a:latin typeface="Calibri" panose="020F0502020204030204" pitchFamily="34" charset="0"/>
              </a:rPr>
              <a:t>op</a:t>
            </a:r>
            <a: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  <a:t> z”.</a:t>
            </a:r>
            <a:endParaRPr lang="ko-KR" altLang="en-US" sz="200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9620" y="180475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</a:rPr>
              <a:t>Type: </a:t>
            </a:r>
            <a:r>
              <a:rPr lang="en-US" altLang="ko-KR" sz="2000" i="1" dirty="0" err="1">
                <a:latin typeface="Calibri" panose="020F0502020204030204" pitchFamily="34" charset="0"/>
              </a:rPr>
              <a:t>bool</a:t>
            </a:r>
            <a:r>
              <a:rPr lang="en-US" altLang="ko-KR" sz="2000" i="1" dirty="0">
                <a:latin typeface="Calibri" panose="020F0502020204030204" pitchFamily="34" charset="0"/>
              </a:rPr>
              <a:t>, char, </a:t>
            </a:r>
            <a:r>
              <a:rPr lang="en-US" altLang="ko-KR" sz="2000" i="1" dirty="0" err="1">
                <a:latin typeface="Calibri" panose="020F0502020204030204" pitchFamily="34" charset="0"/>
              </a:rPr>
              <a:t>int</a:t>
            </a:r>
            <a:r>
              <a:rPr lang="en-US" altLang="ko-KR" sz="2000" i="1" dirty="0">
                <a:latin typeface="Calibri" panose="020F0502020204030204" pitchFamily="34" charset="0"/>
              </a:rPr>
              <a:t>, </a:t>
            </a:r>
            <a:r>
              <a:rPr lang="en-US" altLang="ko-KR" sz="2000" i="1" dirty="0" err="1">
                <a:latin typeface="Calibri" panose="020F0502020204030204" pitchFamily="34" charset="0"/>
              </a:rPr>
              <a:t>struct</a:t>
            </a:r>
            <a:r>
              <a:rPr lang="en-US" altLang="ko-KR" sz="2000" i="1" dirty="0">
                <a:latin typeface="Calibri" panose="020F0502020204030204" pitchFamily="34" charset="0"/>
              </a:rPr>
              <a:t>{</a:t>
            </a:r>
            <a:r>
              <a:rPr lang="en-US" altLang="ko-KR" sz="2000" i="1" dirty="0" err="1">
                <a:latin typeface="Calibri" panose="020F0502020204030204" pitchFamily="34" charset="0"/>
              </a:rPr>
              <a:t>int</a:t>
            </a:r>
            <a:r>
              <a:rPr lang="en-US" altLang="ko-KR" sz="2000" i="1" dirty="0">
                <a:latin typeface="Calibri" panose="020F0502020204030204" pitchFamily="34" charset="0"/>
              </a:rPr>
              <a:t>, char}</a:t>
            </a:r>
            <a:endParaRPr lang="ko-KR" altLang="en-US" sz="2000" i="1" dirty="0">
              <a:latin typeface="Calibri" panose="020F05020202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38092" y="1804754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 dirty="0">
                <a:solidFill>
                  <a:srgbClr val="0033CC"/>
                </a:solidFill>
                <a:latin typeface="Calibri" panose="020F0502020204030204" pitchFamily="34" charset="0"/>
              </a:rPr>
              <a:t>i1, i8, i32, </a:t>
            </a:r>
            <a: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  <a:t>{</a:t>
            </a:r>
            <a:r>
              <a:rPr lang="en-US" altLang="ko-KR" sz="2000" i="1" dirty="0">
                <a:solidFill>
                  <a:srgbClr val="0033CC"/>
                </a:solidFill>
                <a:latin typeface="Calibri" panose="020F0502020204030204" pitchFamily="34" charset="0"/>
              </a:rPr>
              <a:t>i32, i8</a:t>
            </a:r>
            <a:r>
              <a:rPr lang="en-US" altLang="ko-KR" sz="2000" dirty="0">
                <a:solidFill>
                  <a:srgbClr val="0033CC"/>
                </a:solidFill>
                <a:latin typeface="Calibri" panose="020F0502020204030204" pitchFamily="34" charset="0"/>
              </a:rPr>
              <a:t>}</a:t>
            </a:r>
            <a:endParaRPr lang="ko-KR" altLang="en-US" sz="200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289620" y="1700808"/>
            <a:ext cx="856895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332170" y="2314972"/>
            <a:ext cx="856895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32170" y="3140968"/>
            <a:ext cx="856895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332170" y="5373216"/>
            <a:ext cx="856895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91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504056"/>
          </a:xfrm>
        </p:spPr>
        <p:txBody>
          <a:bodyPr>
            <a:noAutofit/>
          </a:bodyPr>
          <a:lstStyle/>
          <a:p>
            <a:r>
              <a:rPr lang="en-US" altLang="ko-KR" sz="3600" dirty="0"/>
              <a:t>Example</a:t>
            </a:r>
            <a:endParaRPr lang="ko-KR" altLang="en-US" sz="36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5AAB-17BE-4E17-9571-643E7C3B8464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83121" y="1241200"/>
            <a:ext cx="576064" cy="37719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21" y="5711169"/>
            <a:ext cx="372536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clang –S –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emit-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llvm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-fno-discard-value-names simple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.c</a:t>
            </a:r>
            <a:endParaRPr lang="ko-KR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43161" y="1240160"/>
            <a:ext cx="3268746" cy="377301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x, y 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t ; 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(“%d %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d”,&amp;x,&amp;y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t = x – y 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(t &gt; 0) 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(“x &gt; y”) 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0 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1040766"/>
            <a:ext cx="4896544" cy="5484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6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@x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common global </a:t>
            </a:r>
            <a:r>
              <a:rPr lang="en-US" altLang="ko-KR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0, align 4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7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@y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common global </a:t>
            </a:r>
            <a:r>
              <a:rPr lang="en-US" altLang="ko-KR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0, align 4</a:t>
            </a:r>
          </a:p>
          <a:p>
            <a:pPr>
              <a:lnSpc>
                <a:spcPct val="80000"/>
              </a:lnSpc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11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define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@main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#0 {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12 </a:t>
            </a:r>
            <a:r>
              <a:rPr lang="en-US" altLang="ko-KR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entry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14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align 4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16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%call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...)     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@__isoc99_scanf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(…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@x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@y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80000"/>
              </a:lnSpc>
            </a:pPr>
            <a:br>
              <a:rPr lang="en-US" altLang="ko-KR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17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@x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align 4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@y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align 4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19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%sub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nsw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%0 %1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20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%sub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align 4</a:t>
            </a:r>
            <a:b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ko-KR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21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align 4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22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icmp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0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23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label </a:t>
            </a:r>
            <a:r>
              <a:rPr lang="en-US" altLang="ko-KR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if.then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label </a:t>
            </a:r>
            <a:r>
              <a:rPr lang="en-US" altLang="ko-KR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if.end</a:t>
            </a:r>
            <a:endParaRPr lang="en-US" altLang="ko-KR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24 </a:t>
            </a:r>
            <a:r>
              <a:rPr lang="en-US" altLang="ko-KR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if.then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25  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%call1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…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altLang="ko-KR" sz="16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(…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26 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label </a:t>
            </a:r>
            <a:r>
              <a:rPr lang="en-US" altLang="ko-KR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if.end</a:t>
            </a:r>
            <a:endParaRPr lang="en-US" altLang="ko-KR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27 </a:t>
            </a:r>
            <a:r>
              <a:rPr lang="en-US" altLang="ko-KR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if.end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28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21" y="764704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 dirty="0" err="1">
                <a:latin typeface="Calibri" panose="020F0502020204030204" pitchFamily="34" charset="0"/>
              </a:rPr>
              <a:t>simple.c</a:t>
            </a:r>
            <a:endParaRPr lang="ko-KR" altLang="en-US" i="1" dirty="0"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0005" y="755412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 dirty="0" err="1">
                <a:latin typeface="Calibri" panose="020F0502020204030204" pitchFamily="34" charset="0"/>
              </a:rPr>
              <a:t>simple.ll</a:t>
            </a:r>
            <a:r>
              <a:rPr lang="en-US" altLang="ko-KR" i="1" dirty="0">
                <a:latin typeface="Calibri" panose="020F0502020204030204" pitchFamily="34" charset="0"/>
              </a:rPr>
              <a:t>  </a:t>
            </a:r>
            <a:r>
              <a:rPr lang="en-US" altLang="ko-KR" dirty="0">
                <a:latin typeface="Calibri" panose="020F0502020204030204" pitchFamily="34" charset="0"/>
              </a:rPr>
              <a:t>(simplified)</a:t>
            </a:r>
            <a:endParaRPr lang="ko-KR" altLang="en-US" dirty="0">
              <a:latin typeface="Calibri" panose="020F0502020204030204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779912" y="1301170"/>
            <a:ext cx="270504" cy="19582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2</a:t>
            </a:r>
            <a:endParaRPr lang="ko-KR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789434" y="1957576"/>
            <a:ext cx="270504" cy="19582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4</a:t>
            </a:r>
            <a:endParaRPr lang="ko-KR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789434" y="2453298"/>
            <a:ext cx="270504" cy="19582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5</a:t>
            </a:r>
            <a:endParaRPr lang="ko-KR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789434" y="2840722"/>
            <a:ext cx="270504" cy="19582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6</a:t>
            </a:r>
            <a:endParaRPr lang="ko-KR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789434" y="3360827"/>
            <a:ext cx="270504" cy="19582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7</a:t>
            </a:r>
            <a:endParaRPr lang="ko-KR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789434" y="4325506"/>
            <a:ext cx="270504" cy="19582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8</a:t>
            </a:r>
            <a:endParaRPr lang="ko-KR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789434" y="5216986"/>
            <a:ext cx="270504" cy="19582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9</a:t>
            </a:r>
            <a:endParaRPr lang="ko-KR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789434" y="5865058"/>
            <a:ext cx="270504" cy="19582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10</a:t>
            </a:r>
            <a:endParaRPr lang="ko-KR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823534" y="1260156"/>
            <a:ext cx="5136951" cy="399411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07504" y="1594593"/>
            <a:ext cx="3604403" cy="330092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107504" y="2234812"/>
            <a:ext cx="3604403" cy="330092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107504" y="2564904"/>
            <a:ext cx="3604403" cy="330092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07504" y="2901934"/>
            <a:ext cx="3604403" cy="330092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107504" y="3212976"/>
            <a:ext cx="3604403" cy="330092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107504" y="3530956"/>
            <a:ext cx="3604403" cy="330092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07504" y="3889623"/>
            <a:ext cx="3604403" cy="330092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107504" y="4221088"/>
            <a:ext cx="3604403" cy="330092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3813820" y="1793585"/>
            <a:ext cx="5136951" cy="483287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3808487" y="2380261"/>
            <a:ext cx="5136951" cy="300084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813820" y="2747462"/>
            <a:ext cx="5136951" cy="531616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3818012" y="3299217"/>
            <a:ext cx="5136951" cy="856174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3823345" y="4209960"/>
            <a:ext cx="5136951" cy="856174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818012" y="5136397"/>
            <a:ext cx="5136951" cy="643256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3823345" y="5793892"/>
            <a:ext cx="5136951" cy="531616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69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710952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Contents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04056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ko-KR" sz="2400" dirty="0"/>
              <a:t>LLVM IR Instruction</a:t>
            </a:r>
          </a:p>
          <a:p>
            <a:pPr lvl="1">
              <a:spcBef>
                <a:spcPts val="0"/>
              </a:spcBef>
            </a:pPr>
            <a:r>
              <a:rPr lang="en-US" altLang="ko-KR" sz="2000" dirty="0"/>
              <a:t>architecture, static single assignment</a:t>
            </a:r>
          </a:p>
          <a:p>
            <a:pPr lvl="1">
              <a:spcBef>
                <a:spcPts val="0"/>
              </a:spcBef>
            </a:pPr>
            <a:endParaRPr lang="en-US" altLang="ko-KR" sz="2000" dirty="0"/>
          </a:p>
          <a:p>
            <a:pPr>
              <a:spcBef>
                <a:spcPts val="0"/>
              </a:spcBef>
            </a:pPr>
            <a:r>
              <a:rPr lang="en-US" altLang="ko-KR" sz="2400"/>
              <a:t>Data representation (</a:t>
            </a:r>
            <a:r>
              <a:rPr lang="en-US" altLang="ko-KR" sz="2400">
                <a:hlinkClick r:id="rId2" action="ppaction://hlinksldjump"/>
              </a:rPr>
              <a:t>page 13</a:t>
            </a:r>
            <a:r>
              <a:rPr lang="en-US" altLang="ko-KR" sz="2400"/>
              <a:t>)</a:t>
            </a:r>
            <a:endParaRPr lang="en-US" altLang="ko-KR" sz="2400" dirty="0"/>
          </a:p>
          <a:p>
            <a:pPr lvl="1">
              <a:spcBef>
                <a:spcPts val="0"/>
              </a:spcBef>
            </a:pPr>
            <a:r>
              <a:rPr lang="en-US" altLang="ko-KR" sz="2000" dirty="0"/>
              <a:t>types, constants, registers, variables</a:t>
            </a:r>
          </a:p>
          <a:p>
            <a:pPr lvl="1">
              <a:spcBef>
                <a:spcPts val="0"/>
              </a:spcBef>
            </a:pPr>
            <a:r>
              <a:rPr lang="en-US" altLang="ko-KR" sz="2000" dirty="0"/>
              <a:t>load/store instructions, cast instructions</a:t>
            </a:r>
          </a:p>
          <a:p>
            <a:pPr lvl="1">
              <a:spcBef>
                <a:spcPts val="0"/>
              </a:spcBef>
            </a:pPr>
            <a:r>
              <a:rPr lang="en-US" altLang="ko-KR" sz="2000" dirty="0"/>
              <a:t>computational instructions</a:t>
            </a:r>
          </a:p>
          <a:p>
            <a:pPr lvl="1">
              <a:spcBef>
                <a:spcPts val="0"/>
              </a:spcBef>
            </a:pPr>
            <a:endParaRPr lang="en-US" altLang="ko-KR" sz="2000" dirty="0"/>
          </a:p>
          <a:p>
            <a:pPr>
              <a:spcBef>
                <a:spcPts val="0"/>
              </a:spcBef>
            </a:pPr>
            <a:r>
              <a:rPr lang="en-US" altLang="ko-KR" sz="2400" dirty="0"/>
              <a:t>Control </a:t>
            </a:r>
            <a:r>
              <a:rPr lang="en-US" altLang="ko-KR" sz="2400"/>
              <a:t>representation (</a:t>
            </a:r>
            <a:r>
              <a:rPr lang="en-US" altLang="ko-KR" sz="2400">
                <a:hlinkClick r:id="rId3" action="ppaction://hlinksldjump"/>
              </a:rPr>
              <a:t>page 32</a:t>
            </a:r>
            <a:r>
              <a:rPr lang="en-US" altLang="ko-KR" sz="2400"/>
              <a:t>)</a:t>
            </a:r>
            <a:endParaRPr lang="en-US" altLang="ko-KR" sz="2400" dirty="0"/>
          </a:p>
          <a:p>
            <a:pPr lvl="1">
              <a:spcBef>
                <a:spcPts val="0"/>
              </a:spcBef>
            </a:pPr>
            <a:r>
              <a:rPr lang="en-US" altLang="ko-KR" sz="2000" dirty="0"/>
              <a:t>control flow (basic block)</a:t>
            </a:r>
          </a:p>
          <a:p>
            <a:pPr lvl="1">
              <a:spcBef>
                <a:spcPts val="0"/>
              </a:spcBef>
            </a:pPr>
            <a:r>
              <a:rPr lang="en-US" altLang="ko-KR" sz="2000" dirty="0"/>
              <a:t>control instructions</a:t>
            </a:r>
          </a:p>
          <a:p>
            <a:pPr lvl="1">
              <a:spcBef>
                <a:spcPts val="0"/>
              </a:spcBef>
            </a:pPr>
            <a:endParaRPr lang="en-US" altLang="ko-KR" sz="1050" dirty="0"/>
          </a:p>
          <a:p>
            <a:pPr marL="0" indent="0">
              <a:spcBef>
                <a:spcPts val="0"/>
              </a:spcBef>
              <a:buNone/>
            </a:pPr>
            <a:endParaRPr lang="en-US" altLang="ko-KR" sz="11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* LLVM Language Reference Manual 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http://llvm.org/docs/LangRef.html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* </a:t>
            </a:r>
            <a:r>
              <a:rPr lang="en-US" altLang="ko-KR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Mapping High-Level Constructs to LLVM IR </a:t>
            </a:r>
            <a:br>
              <a:rPr lang="en-US" altLang="ko-KR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http://llvm.lyngvig.org/Articles/Mapping-High-Level-Constructs-to-LLVM-IR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C6A6-2EED-4FEE-B0DE-52C668F8AF84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32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80120"/>
          </a:xfrm>
        </p:spPr>
        <p:txBody>
          <a:bodyPr/>
          <a:lstStyle/>
          <a:p>
            <a:r>
              <a:rPr lang="en-US" altLang="ko-KR" dirty="0"/>
              <a:t>LLVM IR Architecture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340768"/>
            <a:ext cx="8352928" cy="496855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RISC-like instruction set</a:t>
            </a:r>
          </a:p>
          <a:p>
            <a:pPr lvl="1"/>
            <a:r>
              <a:rPr lang="en-US" altLang="ko-KR" sz="2000" dirty="0"/>
              <a:t>Only 31 op-codes (types of instructions) exist</a:t>
            </a:r>
          </a:p>
          <a:p>
            <a:pPr lvl="1">
              <a:spcAft>
                <a:spcPts val="600"/>
              </a:spcAft>
            </a:pPr>
            <a:r>
              <a:rPr lang="en-US" altLang="ko-KR" sz="2000" dirty="0"/>
              <a:t>Most instructions (e.g. computational instructions) are in three-address form: one or two operands, and one result</a:t>
            </a:r>
          </a:p>
          <a:p>
            <a:r>
              <a:rPr lang="en-US" altLang="ko-KR" sz="2800" dirty="0"/>
              <a:t>Load/store architecture</a:t>
            </a:r>
          </a:p>
          <a:p>
            <a:pPr lvl="1"/>
            <a:r>
              <a:rPr lang="en-US" altLang="ko-KR" sz="2000" dirty="0"/>
              <a:t>Memory can be accessed via load/</a:t>
            </a:r>
            <a:r>
              <a:rPr lang="en-US" altLang="ko-KR" sz="2000"/>
              <a:t>store instruction (for</a:t>
            </a:r>
            <a:r>
              <a:rPr lang="ko-KR" altLang="en-US" sz="2000"/>
              <a:t> </a:t>
            </a:r>
            <a:r>
              <a:rPr lang="en-US" altLang="ko-KR" sz="2000"/>
              <a:t>variables)</a:t>
            </a:r>
            <a:endParaRPr lang="en-US" altLang="ko-KR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/>
              <a:t>Computational instructions operate </a:t>
            </a:r>
            <a:r>
              <a:rPr lang="en-US" altLang="ko-KR" sz="2000"/>
              <a:t>on registers (for values)</a:t>
            </a:r>
            <a:endParaRPr lang="en-US" altLang="ko-KR" sz="2000" dirty="0"/>
          </a:p>
          <a:p>
            <a:r>
              <a:rPr lang="en-US" altLang="ko-KR" sz="2800" dirty="0"/>
              <a:t>Infinite and typed </a:t>
            </a:r>
            <a:r>
              <a:rPr lang="en-US" altLang="ko-KR" sz="2800" i="1" dirty="0"/>
              <a:t>virtual registers</a:t>
            </a:r>
          </a:p>
          <a:p>
            <a:pPr lvl="1"/>
            <a:r>
              <a:rPr lang="en-US" altLang="ko-KR" sz="2000" dirty="0"/>
              <a:t>It is possible to declare a new register any point </a:t>
            </a:r>
            <a:br>
              <a:rPr lang="en-US" altLang="ko-KR" sz="2000" dirty="0"/>
            </a:br>
            <a:r>
              <a:rPr lang="en-US" altLang="ko-KR" sz="2000" dirty="0"/>
              <a:t>(the backend maps virtual registers to physical ones).</a:t>
            </a:r>
          </a:p>
          <a:p>
            <a:pPr lvl="1"/>
            <a:r>
              <a:rPr lang="en-US" altLang="ko-KR" sz="2000" dirty="0"/>
              <a:t>A register is declared with a primitive type (</a:t>
            </a:r>
            <a:r>
              <a:rPr lang="en-US" altLang="ko-KR" sz="2000" dirty="0" err="1"/>
              <a:t>boolean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, float, pointer)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4C1D-8DC3-44B3-AE55-6B75A33AEA66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149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Static Single Assignment (1/2)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5902" y="1484784"/>
            <a:ext cx="8616577" cy="2764903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In SSA, each variable is assigned exactly once, and every variable is defined before its uses.</a:t>
            </a:r>
          </a:p>
          <a:p>
            <a:r>
              <a:rPr lang="en-US" altLang="ko-KR" sz="2400" dirty="0"/>
              <a:t>Conversion</a:t>
            </a:r>
          </a:p>
          <a:p>
            <a:pPr lvl="1"/>
            <a:r>
              <a:rPr lang="en-US" altLang="ko-KR" sz="2200" dirty="0"/>
              <a:t>For each definition, create a new version of the target variable (left-hand side) and replace the target variable with the new variable.</a:t>
            </a:r>
          </a:p>
          <a:p>
            <a:pPr lvl="1"/>
            <a:r>
              <a:rPr lang="en-US" altLang="ko-KR" sz="2200" dirty="0"/>
              <a:t>For each use, replace the original referred variable with the versioned variable reaching the use point.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B81D5-4EB3-4E53-82A3-627CC477DA58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91680" y="4294795"/>
            <a:ext cx="2592288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 = y + x ;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y = x + y ;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(y &gt; 0) 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x = y ;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x = y + 1 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24128" y="4294795"/>
            <a:ext cx="2592288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x1 = y0 + x0 ;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y1 = x1 + y0 ;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(y1 &gt; 0) 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x2 = y1 ;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x3 = y1 + 1 ;</a:t>
            </a:r>
          </a:p>
        </p:txBody>
      </p:sp>
      <p:sp>
        <p:nvSpPr>
          <p:cNvPr id="9" name="오른쪽 화살표 8"/>
          <p:cNvSpPr/>
          <p:nvPr/>
        </p:nvSpPr>
        <p:spPr>
          <a:xfrm>
            <a:off x="3923928" y="5069414"/>
            <a:ext cx="1080120" cy="535596"/>
          </a:xfrm>
          <a:prstGeom prst="rightArrow">
            <a:avLst>
              <a:gd name="adj1" fmla="val 50000"/>
              <a:gd name="adj2" fmla="val 71341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21000">
                <a:schemeClr val="accent1">
                  <a:tint val="44500"/>
                  <a:satMod val="160000"/>
                </a:schemeClr>
              </a:gs>
              <a:gs pos="9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187624" y="4293096"/>
            <a:ext cx="504056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8064" y="4312146"/>
            <a:ext cx="504056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08893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Static Single Assignment (2/2)</a:t>
            </a:r>
            <a:endParaRPr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684784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400" dirty="0"/>
                  <a:t>Use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/>
                      </a:rPr>
                      <m:t>𝜙</m:t>
                    </m:r>
                  </m:oMath>
                </a14:m>
                <a:r>
                  <a:rPr lang="en-US" altLang="ko-KR" sz="2400" dirty="0"/>
                  <a:t> function if two versions of a variable are reaching one use point at a joining basic block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/>
                      </a:rPr>
                      <m:t>𝜙</m:t>
                    </m:r>
                    <m:r>
                      <a:rPr lang="en-US" altLang="ko-KR" sz="20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sz="2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sz="2000" dirty="0"/>
                  <a:t> </a:t>
                </a:r>
                <a:r>
                  <a:rPr lang="en-US" altLang="ko-KR" sz="2000" dirty="0"/>
                  <a:t>returns a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/>
                  <a:t> </a:t>
                </a:r>
                <a:r>
                  <a:rPr lang="en-US" altLang="ko-KR" sz="2000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000" dirty="0"/>
                  <a:t> </a:t>
                </a:r>
                <a:r>
                  <a:rPr lang="en-US" altLang="ko-KR" sz="2000" dirty="0">
                    <a:solidFill>
                      <a:srgbClr val="FF0000"/>
                    </a:solidFill>
                  </a:rPr>
                  <a:t>depending on which block was executed </a:t>
                </a:r>
                <a:endParaRPr lang="ko-KR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684784"/>
              </a:xfrm>
              <a:blipFill rotWithShape="0">
                <a:blip r:embed="rId2"/>
                <a:stretch>
                  <a:fillRect l="-963" t="-28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10FC-9C7E-448C-BCD2-92836878804D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03648" y="3429000"/>
            <a:ext cx="2592288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 = y + x ;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y = x + y ;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(y &gt; 0) 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x = y ;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x = y + 1 ;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x – y 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724128" y="3429000"/>
                <a:ext cx="2592288" cy="2723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5000"/>
                  </a:lnSpc>
                  <a:spcBef>
                    <a:spcPts val="600"/>
                  </a:spcBef>
                </a:pPr>
                <a:r>
                  <a:rPr lang="en-US" altLang="ko-KR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x1 = y0 + x0 ;</a:t>
                </a:r>
              </a:p>
              <a:p>
                <a:pPr>
                  <a:lnSpc>
                    <a:spcPct val="85000"/>
                  </a:lnSpc>
                  <a:spcBef>
                    <a:spcPts val="600"/>
                  </a:spcBef>
                </a:pPr>
                <a:r>
                  <a:rPr lang="en-US" altLang="ko-KR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y1 = x1 + y0 ;</a:t>
                </a:r>
              </a:p>
              <a:p>
                <a:pPr>
                  <a:lnSpc>
                    <a:spcPct val="85000"/>
                  </a:lnSpc>
                  <a:spcBef>
                    <a:spcPts val="600"/>
                  </a:spcBef>
                </a:pPr>
                <a:r>
                  <a:rPr lang="en-US" altLang="ko-KR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if (y1 &gt; 0) </a:t>
                </a:r>
              </a:p>
              <a:p>
                <a:pPr>
                  <a:lnSpc>
                    <a:spcPct val="85000"/>
                  </a:lnSpc>
                  <a:spcBef>
                    <a:spcPts val="600"/>
                  </a:spcBef>
                </a:pPr>
                <a:r>
                  <a:rPr lang="en-US" altLang="ko-KR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x2 = y1 ;</a:t>
                </a:r>
              </a:p>
              <a:p>
                <a:pPr>
                  <a:lnSpc>
                    <a:spcPct val="85000"/>
                  </a:lnSpc>
                  <a:spcBef>
                    <a:spcPts val="600"/>
                  </a:spcBef>
                </a:pPr>
                <a:r>
                  <a:rPr lang="en-US" altLang="ko-KR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else</a:t>
                </a:r>
              </a:p>
              <a:p>
                <a:pPr>
                  <a:lnSpc>
                    <a:spcPct val="85000"/>
                  </a:lnSpc>
                  <a:spcBef>
                    <a:spcPts val="600"/>
                  </a:spcBef>
                </a:pPr>
                <a:r>
                  <a:rPr lang="en-US" altLang="ko-KR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x3 = y1 + 1 ;</a:t>
                </a:r>
              </a:p>
              <a:p>
                <a:pPr>
                  <a:lnSpc>
                    <a:spcPct val="85000"/>
                  </a:lnSpc>
                  <a:spcBef>
                    <a:spcPts val="600"/>
                  </a:spcBef>
                </a:pPr>
                <a:r>
                  <a:rPr lang="en-US" altLang="ko-KR" sz="2000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x4 =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rgbClr val="0033CC"/>
                        </a:solidFill>
                        <a:latin typeface="Cambria Math"/>
                        <a:cs typeface="Courier New" panose="02070309020205020404" pitchFamily="49" charset="0"/>
                      </a:rPr>
                      <m:t>𝜙</m:t>
                    </m:r>
                  </m:oMath>
                </a14:m>
                <a:r>
                  <a:rPr lang="en-US" altLang="ko-KR" sz="2000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(x2, x3);</a:t>
                </a:r>
              </a:p>
              <a:p>
                <a:pPr>
                  <a:lnSpc>
                    <a:spcPct val="85000"/>
                  </a:lnSpc>
                  <a:spcBef>
                    <a:spcPts val="600"/>
                  </a:spcBef>
                </a:pPr>
                <a:r>
                  <a:rPr lang="en-US" altLang="ko-KR" sz="2000" dirty="0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y2 = x4 – y1 ;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3429000"/>
                <a:ext cx="2592288" cy="2723823"/>
              </a:xfrm>
              <a:prstGeom prst="rect">
                <a:avLst/>
              </a:prstGeom>
              <a:blipFill rotWithShape="1">
                <a:blip r:embed="rId3"/>
                <a:stretch>
                  <a:fillRect l="-2588" t="-2242" b="-3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71600" y="3470816"/>
            <a:ext cx="504056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92080" y="3438525"/>
            <a:ext cx="504056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</p:txBody>
      </p:sp>
      <p:sp>
        <p:nvSpPr>
          <p:cNvPr id="13" name="오른쪽 화살표 12"/>
          <p:cNvSpPr/>
          <p:nvPr/>
        </p:nvSpPr>
        <p:spPr>
          <a:xfrm>
            <a:off x="4029844" y="4149080"/>
            <a:ext cx="1080120" cy="535596"/>
          </a:xfrm>
          <a:prstGeom prst="rightArrow">
            <a:avLst>
              <a:gd name="adj1" fmla="val 50000"/>
              <a:gd name="adj2" fmla="val 71341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21000">
                <a:schemeClr val="accent1">
                  <a:tint val="44500"/>
                  <a:satMod val="160000"/>
                </a:schemeClr>
              </a:gs>
              <a:gs pos="9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7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Data Representations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1600200"/>
            <a:ext cx="7632848" cy="4525963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Primitive types</a:t>
            </a:r>
          </a:p>
          <a:p>
            <a:r>
              <a:rPr lang="en-US" altLang="ko-KR" sz="2800" dirty="0"/>
              <a:t>Constants</a:t>
            </a:r>
          </a:p>
          <a:p>
            <a:r>
              <a:rPr lang="en-US" altLang="ko-KR" sz="2800" dirty="0"/>
              <a:t>Registers (virtual registers)</a:t>
            </a:r>
          </a:p>
          <a:p>
            <a:r>
              <a:rPr lang="en-US" altLang="ko-KR" sz="2800" dirty="0"/>
              <a:t>Variables</a:t>
            </a:r>
          </a:p>
          <a:p>
            <a:pPr lvl="1"/>
            <a:r>
              <a:rPr lang="en-US" altLang="ko-KR" sz="2400" dirty="0"/>
              <a:t>local variables, heap variables, global variables</a:t>
            </a:r>
          </a:p>
          <a:p>
            <a:r>
              <a:rPr lang="en-US" altLang="ko-KR" sz="2800" dirty="0"/>
              <a:t>Load and store instructions</a:t>
            </a:r>
          </a:p>
          <a:p>
            <a:r>
              <a:rPr lang="en-US" altLang="ko-KR" sz="2800" dirty="0"/>
              <a:t>Aggregated types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E60C5-5DE2-4F1D-A3CA-2B9C99772244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199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Primitive Types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Language independent primitive types with predefined sizes</a:t>
            </a:r>
          </a:p>
          <a:p>
            <a:pPr lvl="1"/>
            <a:r>
              <a:rPr lang="en-US" altLang="ko-KR" sz="2400" dirty="0"/>
              <a:t>void:	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US" altLang="ko-KR" sz="2000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2400" dirty="0" err="1"/>
              <a:t>bool</a:t>
            </a:r>
            <a:r>
              <a:rPr lang="en-US" altLang="ko-KR" sz="2400" dirty="0"/>
              <a:t>:	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i1</a:t>
            </a:r>
          </a:p>
          <a:p>
            <a:pPr lvl="1"/>
            <a:r>
              <a:rPr lang="en-US" altLang="ko-KR" sz="2400" dirty="0"/>
              <a:t>integers:  </a:t>
            </a:r>
            <a:r>
              <a:rPr lang="en-US" altLang="ko-KR" sz="24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[N]</a:t>
            </a:r>
            <a:r>
              <a:rPr lang="en-US" altLang="ko-KR" sz="2400" dirty="0"/>
              <a:t> where </a:t>
            </a:r>
            <a:r>
              <a:rPr lang="en-US" altLang="ko-KR" sz="24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ko-KR" sz="2400" dirty="0"/>
              <a:t> is </a:t>
            </a:r>
            <a:r>
              <a:rPr lang="en-US" altLang="ko-KR" sz="2400" dirty="0">
                <a:solidFill>
                  <a:srgbClr val="0033CC"/>
                </a:solidFill>
              </a:rPr>
              <a:t>1 </a:t>
            </a:r>
            <a:r>
              <a:rPr lang="en-US" altLang="ko-KR" sz="2400" dirty="0"/>
              <a:t>to </a:t>
            </a:r>
            <a:r>
              <a:rPr lang="en-US" altLang="ko-KR" sz="2400" dirty="0">
                <a:solidFill>
                  <a:srgbClr val="0033CC"/>
                </a:solidFill>
              </a:rPr>
              <a:t>2</a:t>
            </a:r>
            <a:r>
              <a:rPr lang="en-US" altLang="ko-KR" sz="2400" baseline="30000" dirty="0">
                <a:solidFill>
                  <a:srgbClr val="0033CC"/>
                </a:solidFill>
              </a:rPr>
              <a:t>23</a:t>
            </a:r>
            <a:r>
              <a:rPr lang="en-US" altLang="ko-KR" sz="2400" dirty="0">
                <a:solidFill>
                  <a:srgbClr val="0033CC"/>
                </a:solidFill>
              </a:rPr>
              <a:t>-1 </a:t>
            </a:r>
            <a:br>
              <a:rPr lang="en-US" altLang="ko-KR" sz="2400" dirty="0">
                <a:solidFill>
                  <a:srgbClr val="0033CC"/>
                </a:solidFill>
              </a:rPr>
            </a:br>
            <a:r>
              <a:rPr lang="en-US" altLang="ko-KR" sz="2000" dirty="0"/>
              <a:t>		  e.g. 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i8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i16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i1942</a:t>
            </a:r>
          </a:p>
          <a:p>
            <a:pPr lvl="1"/>
            <a:r>
              <a:rPr lang="en-US" altLang="ko-KR" sz="2400" dirty="0"/>
              <a:t>floating-point types:</a:t>
            </a:r>
            <a:br>
              <a:rPr lang="en-US" altLang="ko-KR" sz="2400" dirty="0"/>
            </a:br>
            <a:r>
              <a:rPr lang="en-US" altLang="ko-KR" sz="2400" dirty="0"/>
              <a:t>		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half</a:t>
            </a:r>
            <a:r>
              <a:rPr lang="en-US" altLang="ko-KR" sz="2000" dirty="0"/>
              <a:t> (16-bit floating point value)</a:t>
            </a:r>
            <a:br>
              <a:rPr lang="en-US" altLang="ko-KR" sz="2000" dirty="0"/>
            </a:br>
            <a:r>
              <a:rPr lang="en-US" altLang="ko-KR" sz="2400" dirty="0"/>
              <a:t>		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/>
              <a:t>(32-bit floating point value)</a:t>
            </a:r>
            <a:br>
              <a:rPr lang="en-US" altLang="ko-KR" sz="2000" dirty="0"/>
            </a:br>
            <a:r>
              <a:rPr lang="en-US" altLang="ko-KR" sz="2400" dirty="0"/>
              <a:t>		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ko-KR" sz="2400" dirty="0"/>
              <a:t> </a:t>
            </a:r>
            <a:r>
              <a:rPr lang="en-US" altLang="ko-KR" sz="2000" dirty="0"/>
              <a:t>(64-bit floating point value)</a:t>
            </a:r>
          </a:p>
          <a:p>
            <a:endParaRPr lang="en-US" altLang="ko-KR" sz="1400" dirty="0"/>
          </a:p>
          <a:p>
            <a:r>
              <a:rPr lang="en-US" altLang="ko-KR" sz="2400" dirty="0"/>
              <a:t>All</a:t>
            </a:r>
            <a:r>
              <a:rPr lang="ko-KR" altLang="en-US" sz="2400" dirty="0"/>
              <a:t> </a:t>
            </a:r>
            <a:r>
              <a:rPr lang="en-US" altLang="ko-KR" sz="2400" dirty="0"/>
              <a:t>pointers have one identical </a:t>
            </a:r>
            <a:r>
              <a:rPr lang="en-US" altLang="ko-KR" sz="24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2000" dirty="0"/>
              <a:t> type</a:t>
            </a:r>
            <a:endParaRPr lang="ko-KR" altLang="en-US" sz="20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E14E7-2A19-42D3-9611-ED78C0C865B8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97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Constants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578" y="1600200"/>
            <a:ext cx="8435280" cy="4525963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en-US" altLang="ko-KR" sz="2800" dirty="0"/>
              <a:t>Boolean (</a:t>
            </a:r>
            <a:r>
              <a:rPr lang="en-US" altLang="ko-K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i1</a:t>
            </a:r>
            <a:r>
              <a:rPr lang="en-US" altLang="ko-KR" sz="2800" dirty="0"/>
              <a:t>):  </a:t>
            </a:r>
            <a:r>
              <a:rPr lang="en-US" altLang="ko-KR" sz="28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ko-KR" sz="2800" dirty="0">
                <a:solidFill>
                  <a:srgbClr val="0033CC"/>
                </a:solidFill>
              </a:rPr>
              <a:t> </a:t>
            </a:r>
            <a:r>
              <a:rPr lang="en-US" altLang="ko-KR" sz="2800" dirty="0"/>
              <a:t>and </a:t>
            </a:r>
            <a:r>
              <a:rPr lang="en-US" altLang="ko-KR" sz="28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altLang="ko-KR" sz="2800" dirty="0">
                <a:solidFill>
                  <a:srgbClr val="0033CC"/>
                </a:solidFill>
              </a:rPr>
              <a:t> </a:t>
            </a:r>
          </a:p>
          <a:p>
            <a:pPr>
              <a:spcBef>
                <a:spcPts val="2400"/>
              </a:spcBef>
            </a:pPr>
            <a:r>
              <a:rPr lang="en-US" altLang="ko-KR" sz="2800" dirty="0"/>
              <a:t>Integer: standard integers including negative numbers</a:t>
            </a:r>
          </a:p>
          <a:p>
            <a:pPr>
              <a:spcBef>
                <a:spcPts val="2400"/>
              </a:spcBef>
            </a:pPr>
            <a:r>
              <a:rPr lang="en-US" altLang="ko-KR" sz="2800" dirty="0"/>
              <a:t>Floating point: decimal notation, exponential notation, or hexadecimal notation (IEEE754 Std.)</a:t>
            </a:r>
          </a:p>
          <a:p>
            <a:pPr>
              <a:spcBef>
                <a:spcPts val="2400"/>
              </a:spcBef>
            </a:pPr>
            <a:r>
              <a:rPr lang="en-US" altLang="ko-KR" sz="2800" dirty="0"/>
              <a:t>Pointer: </a:t>
            </a:r>
            <a:r>
              <a:rPr lang="en-US" altLang="ko-KR" sz="28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2800" dirty="0">
                <a:cs typeface="Courier New" panose="02070309020205020404" pitchFamily="49" charset="0"/>
              </a:rPr>
              <a:t> is treated as a special value</a:t>
            </a:r>
            <a:endParaRPr lang="ko-KR" altLang="en-US" sz="2800" dirty="0">
              <a:cs typeface="Courier New" panose="02070309020205020404" pitchFamily="49" charset="0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0FD3-2CBF-4CD1-9910-09BECA7471ED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363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Registers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637111"/>
          </a:xfrm>
        </p:spPr>
        <p:txBody>
          <a:bodyPr>
            <a:noAutofit/>
          </a:bodyPr>
          <a:lstStyle/>
          <a:p>
            <a:r>
              <a:rPr lang="en-US" altLang="ko-KR" sz="2800" dirty="0"/>
              <a:t>Identifier syntax</a:t>
            </a:r>
          </a:p>
          <a:p>
            <a:pPr lvl="1"/>
            <a:r>
              <a:rPr lang="en-US" altLang="ko-KR" sz="2400" dirty="0"/>
              <a:t>Named registers: </a:t>
            </a:r>
            <a:r>
              <a:rPr lang="en-US" altLang="ko-KR" sz="22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[%][a-</a:t>
            </a:r>
            <a:r>
              <a:rPr lang="en-US" altLang="ko-KR" sz="22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zA</a:t>
            </a:r>
            <a:r>
              <a:rPr lang="en-US" altLang="ko-KR" sz="22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-Z$._][a-zA-Z$._0-9]*</a:t>
            </a:r>
          </a:p>
          <a:p>
            <a:pPr lvl="1"/>
            <a:r>
              <a:rPr lang="en-US" altLang="ko-KR" sz="2400" dirty="0"/>
              <a:t>Unnamed registers: </a:t>
            </a:r>
            <a:r>
              <a:rPr lang="en-US" altLang="ko-KR" sz="22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[%][0-9][0-9]*</a:t>
            </a:r>
          </a:p>
          <a:p>
            <a:pPr lvl="1"/>
            <a:endParaRPr lang="en-US" altLang="ko-KR" sz="1100" dirty="0">
              <a:solidFill>
                <a:srgbClr val="0033CC"/>
              </a:solidFill>
            </a:endParaRPr>
          </a:p>
          <a:p>
            <a:r>
              <a:rPr lang="en-US" altLang="ko-KR" sz="2800" dirty="0"/>
              <a:t>A register has a function-level scope.</a:t>
            </a:r>
          </a:p>
          <a:p>
            <a:pPr lvl="1"/>
            <a:r>
              <a:rPr lang="en-US" altLang="ko-KR" sz="2400" dirty="0"/>
              <a:t>Two registers in different functions may have the same identifier</a:t>
            </a:r>
          </a:p>
          <a:p>
            <a:pPr lvl="1"/>
            <a:endParaRPr lang="en-US" altLang="ko-KR" sz="1200" dirty="0"/>
          </a:p>
          <a:p>
            <a:r>
              <a:rPr lang="en-US" altLang="ko-KR" sz="2800" dirty="0"/>
              <a:t>A register is assigned for a particular type and a value at its first (and the only) definition</a:t>
            </a:r>
            <a:endParaRPr lang="ko-KR" altLang="en-US" sz="28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8E35-5020-4556-B7D5-014EC4FE70CC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762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54968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Variables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525658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ko-KR" sz="2400" dirty="0"/>
              <a:t>In LLVM, all addressable objects (“</a:t>
            </a:r>
            <a:r>
              <a:rPr lang="en-US" altLang="ko-KR" sz="2400" dirty="0" err="1"/>
              <a:t>lvalues</a:t>
            </a:r>
            <a:r>
              <a:rPr lang="en-US" altLang="ko-KR" sz="2400" dirty="0"/>
              <a:t>”) are explicitly allocated.</a:t>
            </a:r>
          </a:p>
          <a:p>
            <a:pPr>
              <a:spcBef>
                <a:spcPts val="0"/>
              </a:spcBef>
            </a:pPr>
            <a:endParaRPr lang="en-US" altLang="ko-KR" sz="1400" dirty="0"/>
          </a:p>
          <a:p>
            <a:pPr>
              <a:spcBef>
                <a:spcPts val="0"/>
              </a:spcBef>
            </a:pPr>
            <a:r>
              <a:rPr lang="en-US" altLang="ko-KR" sz="2400" dirty="0"/>
              <a:t>Global variables</a:t>
            </a:r>
          </a:p>
          <a:p>
            <a:pPr lvl="1">
              <a:spcBef>
                <a:spcPts val="0"/>
              </a:spcBef>
            </a:pPr>
            <a:r>
              <a:rPr lang="en-US" altLang="ko-KR" sz="2400" dirty="0"/>
              <a:t>Each variable has a global scope symbol that points to the memory address of the object</a:t>
            </a:r>
          </a:p>
          <a:p>
            <a:pPr lvl="1">
              <a:spcBef>
                <a:spcPts val="0"/>
              </a:spcBef>
            </a:pPr>
            <a:r>
              <a:rPr lang="en-US" altLang="ko-KR" sz="2400" dirty="0"/>
              <a:t>Variable identifier: 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[@][a-</a:t>
            </a:r>
            <a:r>
              <a:rPr lang="en-US" altLang="ko-KR" sz="24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zA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-Z$._][a-zA-Z$._0-9]*</a:t>
            </a:r>
            <a:endParaRPr lang="en-US" altLang="ko-KR" sz="2400" dirty="0"/>
          </a:p>
          <a:p>
            <a:pPr>
              <a:spcBef>
                <a:spcPts val="0"/>
              </a:spcBef>
            </a:pPr>
            <a:endParaRPr lang="en-US" altLang="ko-KR" sz="1400" dirty="0"/>
          </a:p>
          <a:p>
            <a:pPr>
              <a:spcBef>
                <a:spcPts val="0"/>
              </a:spcBef>
            </a:pPr>
            <a:r>
              <a:rPr lang="en-US" altLang="ko-KR" sz="2400" dirty="0"/>
              <a:t>Local variables</a:t>
            </a:r>
          </a:p>
          <a:p>
            <a:pPr lvl="1">
              <a:spcBef>
                <a:spcPts val="0"/>
              </a:spcBef>
            </a:pPr>
            <a:r>
              <a:rPr lang="en-US" altLang="ko-KR" sz="2400" dirty="0"/>
              <a:t>The </a:t>
            </a:r>
            <a:r>
              <a:rPr lang="en-US" altLang="ko-K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sz="2000" dirty="0"/>
              <a:t> </a:t>
            </a:r>
            <a:r>
              <a:rPr lang="en-US" altLang="ko-KR" sz="2400" dirty="0"/>
              <a:t>instruction allocates memory in the stack frame.</a:t>
            </a:r>
          </a:p>
          <a:p>
            <a:pPr lvl="1">
              <a:spcBef>
                <a:spcPts val="0"/>
              </a:spcBef>
            </a:pPr>
            <a:r>
              <a:rPr lang="en-US" altLang="ko-KR" sz="2400" dirty="0" err="1"/>
              <a:t>Deallocated</a:t>
            </a:r>
            <a:r>
              <a:rPr lang="en-US" altLang="ko-KR" sz="2400" dirty="0"/>
              <a:t> automatically if the function returns.</a:t>
            </a:r>
          </a:p>
          <a:p>
            <a:pPr>
              <a:spcBef>
                <a:spcPts val="0"/>
              </a:spcBef>
            </a:pPr>
            <a:endParaRPr lang="en-US" altLang="ko-KR" sz="1600" dirty="0"/>
          </a:p>
          <a:p>
            <a:pPr>
              <a:spcBef>
                <a:spcPts val="0"/>
              </a:spcBef>
            </a:pPr>
            <a:r>
              <a:rPr lang="en-US" altLang="ko-KR" sz="2400" dirty="0"/>
              <a:t>Heap variables</a:t>
            </a:r>
          </a:p>
          <a:p>
            <a:pPr lvl="1">
              <a:spcBef>
                <a:spcPts val="0"/>
              </a:spcBef>
            </a:pPr>
            <a:r>
              <a:rPr lang="en-US" altLang="ko-KR" sz="2400" dirty="0"/>
              <a:t>The </a:t>
            </a:r>
            <a:r>
              <a:rPr lang="en-US" altLang="ko-K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ko-KR" sz="2400" dirty="0"/>
              <a:t> function call allocates memory on the heap.</a:t>
            </a:r>
          </a:p>
          <a:p>
            <a:pPr lvl="1">
              <a:spcBef>
                <a:spcPts val="0"/>
              </a:spcBef>
            </a:pPr>
            <a:r>
              <a:rPr lang="en-US" altLang="ko-KR" sz="2400" dirty="0"/>
              <a:t>The </a:t>
            </a:r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en-US" altLang="ko-KR" sz="2400" dirty="0"/>
              <a:t> function call frees the memory allocated by </a:t>
            </a:r>
            <a:r>
              <a:rPr lang="en-US" altLang="ko-K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3FFF-ADC3-4DBF-AD15-A00414FAE676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488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Load and Store Instructions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496" y="1332012"/>
            <a:ext cx="4252317" cy="3753172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Load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&lt;result&gt;=load &lt;type&gt;, 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lvl="1"/>
            <a:r>
              <a:rPr lang="en-US" altLang="ko-KR" sz="2000" dirty="0"/>
              <a:t>result: the target register</a:t>
            </a:r>
          </a:p>
          <a:p>
            <a:pPr lvl="1"/>
            <a:r>
              <a:rPr lang="en-US" altLang="ko-KR" sz="2000" dirty="0"/>
              <a:t>type: the type of the data</a:t>
            </a:r>
            <a:br>
              <a:rPr lang="en-US" altLang="ko-KR" sz="2000" dirty="0"/>
            </a:br>
            <a:r>
              <a:rPr lang="en-US" altLang="ko-KR" sz="2000" dirty="0"/>
              <a:t> (a </a:t>
            </a:r>
            <a:r>
              <a:rPr lang="en-US" altLang="ko-KR" sz="2000" dirty="0" err="1"/>
              <a:t>pointee</a:t>
            </a:r>
            <a:r>
              <a:rPr lang="en-US" altLang="ko-KR" sz="2000" dirty="0"/>
              <a:t> value type)</a:t>
            </a:r>
          </a:p>
          <a:p>
            <a:pPr lvl="1"/>
            <a:r>
              <a:rPr lang="en-US" altLang="ko-KR" sz="2000" dirty="0" err="1"/>
              <a:t>ptr</a:t>
            </a:r>
            <a:r>
              <a:rPr lang="en-US" altLang="ko-KR" sz="2000" dirty="0"/>
              <a:t>: the register that has the address of the data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18</a:t>
            </a:fld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581932"/>
              </p:ext>
            </p:extLst>
          </p:nvPr>
        </p:nvGraphicFramePr>
        <p:xfrm>
          <a:off x="1475656" y="4186768"/>
          <a:ext cx="1823864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/>
                        <a:t>Address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Var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0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6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6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6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/>
                        <a:t>99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6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4361309" y="1268761"/>
            <a:ext cx="4891211" cy="3024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Store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 &lt;type&gt; &lt;value&gt;, 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lvl="1"/>
            <a:r>
              <a:rPr lang="en-US" altLang="ko-KR" sz="2000" dirty="0"/>
              <a:t>type: the type of the value</a:t>
            </a:r>
          </a:p>
          <a:p>
            <a:pPr lvl="1"/>
            <a:r>
              <a:rPr lang="en-US" altLang="ko-KR" sz="2000" dirty="0"/>
              <a:t>value: either a constant or a register that holds the value</a:t>
            </a:r>
          </a:p>
          <a:p>
            <a:pPr lvl="1"/>
            <a:r>
              <a:rPr lang="en-US" altLang="ko-KR" sz="2000" dirty="0" err="1"/>
              <a:t>ptr</a:t>
            </a:r>
            <a:r>
              <a:rPr lang="en-US" altLang="ko-KR" sz="2000" dirty="0"/>
              <a:t>: the register that has the address where the data should be stored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4644008" y="4174058"/>
            <a:ext cx="3600400" cy="1631206"/>
            <a:chOff x="5364088" y="4725144"/>
            <a:chExt cx="2448272" cy="1631206"/>
          </a:xfrm>
        </p:grpSpPr>
        <p:sp>
          <p:nvSpPr>
            <p:cNvPr id="9" name="직사각형 8"/>
            <p:cNvSpPr/>
            <p:nvPr/>
          </p:nvSpPr>
          <p:spPr>
            <a:xfrm>
              <a:off x="5364088" y="4725144"/>
              <a:ext cx="2448272" cy="16312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580112" y="5373216"/>
              <a:ext cx="385963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%0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049604" y="5373216"/>
              <a:ext cx="385963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%1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5580112" y="5877272"/>
              <a:ext cx="385963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%x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049604" y="5877272"/>
              <a:ext cx="385963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%y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직선 연결선 15"/>
            <p:cNvCxnSpPr>
              <a:endCxn id="15" idx="3"/>
            </p:cNvCxnSpPr>
            <p:nvPr/>
          </p:nvCxnSpPr>
          <p:spPr>
            <a:xfrm flipH="1">
              <a:off x="6435567" y="6057292"/>
              <a:ext cx="299553" cy="0"/>
            </a:xfrm>
            <a:prstGeom prst="line">
              <a:avLst/>
            </a:prstGeom>
            <a:ln w="571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5436096" y="4859868"/>
              <a:ext cx="1243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Virtual registers</a:t>
              </a:r>
              <a:endParaRPr lang="ko-KR" altLang="en-US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921122" y="3779748"/>
            <a:ext cx="1066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Memory</a:t>
            </a:r>
            <a:endParaRPr lang="ko-KR" altLang="en-US" dirty="0"/>
          </a:p>
        </p:txBody>
      </p:sp>
      <p:cxnSp>
        <p:nvCxnSpPr>
          <p:cNvPr id="21" name="직선 화살표 연결선 20"/>
          <p:cNvCxnSpPr>
            <a:endCxn id="14" idx="1"/>
          </p:cNvCxnSpPr>
          <p:nvPr/>
        </p:nvCxnSpPr>
        <p:spPr>
          <a:xfrm>
            <a:off x="2987824" y="5182170"/>
            <a:ext cx="1973867" cy="32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35896" y="5003884"/>
            <a:ext cx="716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load </a:t>
            </a:r>
            <a:endParaRPr lang="ko-KR" altLang="en-US" dirty="0"/>
          </a:p>
        </p:txBody>
      </p:sp>
      <p:cxnSp>
        <p:nvCxnSpPr>
          <p:cNvPr id="24" name="직선 화살표 연결선 23"/>
          <p:cNvCxnSpPr>
            <a:stCxn id="15" idx="2"/>
          </p:cNvCxnSpPr>
          <p:nvPr/>
        </p:nvCxnSpPr>
        <p:spPr>
          <a:xfrm flipH="1">
            <a:off x="2987824" y="5686226"/>
            <a:ext cx="2948093" cy="119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35896" y="5733256"/>
            <a:ext cx="702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store</a:t>
            </a:r>
            <a:endParaRPr lang="ko-KR" altLang="en-US" dirty="0"/>
          </a:p>
        </p:txBody>
      </p:sp>
      <p:cxnSp>
        <p:nvCxnSpPr>
          <p:cNvPr id="52" name="직선 연결선 51"/>
          <p:cNvCxnSpPr/>
          <p:nvPr/>
        </p:nvCxnSpPr>
        <p:spPr>
          <a:xfrm flipH="1">
            <a:off x="6219712" y="4977206"/>
            <a:ext cx="440519" cy="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/>
          <p:cNvSpPr/>
          <p:nvPr/>
        </p:nvSpPr>
        <p:spPr>
          <a:xfrm>
            <a:off x="6883180" y="4880220"/>
            <a:ext cx="1073196" cy="70902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ALU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6036343" y="3789040"/>
            <a:ext cx="6238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CPU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670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Variable Example</a:t>
            </a:r>
            <a:endParaRPr lang="ko-KR" altLang="en-US" sz="36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5496" y="1574790"/>
            <a:ext cx="39794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1 #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2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3 </a:t>
            </a:r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g = 0 ;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4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5 </a:t>
            </a:r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6  </a:t>
            </a:r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t = 0;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7  </a:t>
            </a:r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* p;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8  p=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9  free(p);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10 }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99409" y="1556792"/>
            <a:ext cx="4716016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1  </a:t>
            </a:r>
            <a:r>
              <a:rPr lang="en-US" altLang="ko-KR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@g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global </a:t>
            </a:r>
            <a:r>
              <a:rPr lang="en-US" altLang="ko-KR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0,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 4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8 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define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@main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#0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  <a:p>
            <a:pPr marL="457200" indent="-457200">
              <a:buAutoNum type="arabicPlain" startAt="10"/>
            </a:pPr>
            <a:r>
              <a:rPr lang="en-US" altLang="ko-KR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 4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11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0, </a:t>
            </a:r>
            <a:r>
              <a:rPr lang="en-US" altLang="ko-KR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 4</a:t>
            </a:r>
            <a:b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ko-KR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12 %p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 8</a:t>
            </a:r>
          </a:p>
          <a:p>
            <a:endParaRPr lang="en-US" altLang="ko-KR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13 </a:t>
            </a:r>
            <a:r>
              <a:rPr lang="en-US" altLang="ko-KR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%call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noalias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b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altLang="ko-KR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i64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4)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#2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14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%p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align 8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15 </a:t>
            </a:r>
            <a:r>
              <a:rPr lang="en-US" altLang="ko-KR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%p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 8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3616474" y="2492896"/>
            <a:ext cx="811510" cy="535596"/>
          </a:xfrm>
          <a:prstGeom prst="rightArrow">
            <a:avLst>
              <a:gd name="adj1" fmla="val 50000"/>
              <a:gd name="adj2" fmla="val 71341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21000">
                <a:schemeClr val="accent1">
                  <a:tint val="44500"/>
                  <a:satMod val="160000"/>
                </a:schemeClr>
              </a:gs>
              <a:gs pos="9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77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Integer Conversion (1/2)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Truncate</a:t>
            </a:r>
          </a:p>
          <a:p>
            <a:pPr lvl="1"/>
            <a:r>
              <a:rPr lang="en-US" altLang="ko-KR" sz="2400" dirty="0"/>
              <a:t>Syntax: 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&lt;res&gt; = </a:t>
            </a:r>
            <a:r>
              <a:rPr lang="en-US" altLang="ko-KR" sz="20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trunc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&lt;iN1&gt; &lt;value&gt; to &lt;iN2&gt;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400" dirty="0"/>
              <a:t>where 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iN1</a:t>
            </a:r>
            <a:r>
              <a:rPr lang="en-US" altLang="ko-KR" sz="2400" dirty="0"/>
              <a:t> and 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iN2</a:t>
            </a:r>
            <a:r>
              <a:rPr lang="en-US" altLang="ko-KR" sz="2400" dirty="0"/>
              <a:t> are of integer type, and 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N1</a:t>
            </a:r>
            <a:r>
              <a:rPr lang="en-US" altLang="ko-KR" sz="2400" dirty="0"/>
              <a:t> &gt; 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N2</a:t>
            </a:r>
          </a:p>
          <a:p>
            <a:pPr lvl="1"/>
            <a:r>
              <a:rPr lang="en-US" altLang="ko-KR" sz="2400" dirty="0"/>
              <a:t>Examples </a:t>
            </a:r>
          </a:p>
          <a:p>
            <a:pPr lvl="2"/>
            <a:r>
              <a:rPr lang="pl-PL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l-PL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trunc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257 </a:t>
            </a:r>
            <a:r>
              <a:rPr lang="pl-PL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i8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%X becomes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i8:1</a:t>
            </a:r>
          </a:p>
          <a:p>
            <a:pPr lvl="2"/>
            <a:r>
              <a:rPr lang="pl-PL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%Y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l-PL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trunc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123 </a:t>
            </a:r>
            <a:r>
              <a:rPr lang="pl-PL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i1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%Y becomes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i1:true</a:t>
            </a:r>
          </a:p>
          <a:p>
            <a:pPr lvl="2"/>
            <a:r>
              <a:rPr lang="pl-PL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%Z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l-PL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trunc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122 </a:t>
            </a:r>
            <a:r>
              <a:rPr lang="pl-PL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i1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%Z becomes</a:t>
            </a:r>
            <a:r>
              <a:rPr lang="pl-PL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i1:false</a:t>
            </a:r>
            <a:endParaRPr lang="en-US" altLang="ko-K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101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3848"/>
            <a:ext cx="8229600" cy="737736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Integer Conversion (2/2)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1438" y="1269209"/>
            <a:ext cx="8313173" cy="4896544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Zero extension</a:t>
            </a:r>
          </a:p>
          <a:p>
            <a:pPr lvl="1"/>
            <a:r>
              <a:rPr lang="en-US" altLang="ko-KR" sz="18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&lt;res&gt; = </a:t>
            </a:r>
            <a:r>
              <a:rPr lang="en-US" altLang="ko-KR" sz="18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zext</a:t>
            </a:r>
            <a:r>
              <a:rPr lang="en-US" altLang="ko-KR" sz="18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&lt;iN1&gt; &lt;value&gt; to &lt;iN2&gt; </a:t>
            </a:r>
            <a:r>
              <a:rPr lang="en-US" altLang="ko-KR" sz="2000" dirty="0"/>
              <a:t>where </a:t>
            </a:r>
            <a:br>
              <a:rPr lang="en-US" altLang="ko-KR" sz="2000" dirty="0"/>
            </a:b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iN1</a:t>
            </a:r>
            <a:r>
              <a:rPr lang="en-US" altLang="ko-KR" sz="2000" dirty="0"/>
              <a:t> and 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iN2</a:t>
            </a:r>
            <a:r>
              <a:rPr lang="en-US" altLang="ko-KR" sz="2000" dirty="0"/>
              <a:t> are of integer type, and 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N1</a:t>
            </a:r>
            <a:r>
              <a:rPr lang="en-US" altLang="ko-KR" sz="2000" dirty="0"/>
              <a:t> &lt; 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N2</a:t>
            </a:r>
          </a:p>
          <a:p>
            <a:pPr lvl="1"/>
            <a:r>
              <a:rPr lang="en-US" altLang="ko-KR" sz="2000" dirty="0"/>
              <a:t>Fill the remaining bits with zero</a:t>
            </a:r>
          </a:p>
          <a:p>
            <a:pPr lvl="1"/>
            <a:r>
              <a:rPr lang="en-US" altLang="ko-KR" sz="2000" dirty="0"/>
              <a:t>Examples </a:t>
            </a:r>
          </a:p>
          <a:p>
            <a:pPr lvl="2"/>
            <a:r>
              <a:rPr lang="pl-PL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zext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257 </a:t>
            </a:r>
            <a:r>
              <a:rPr lang="pl-PL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%X becomes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257</a:t>
            </a:r>
            <a:endParaRPr lang="pl-PL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pl-PL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%Y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zext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%Y becomes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altLang="ko-KR" sz="2400" dirty="0"/>
              <a:t>Sign extension</a:t>
            </a:r>
          </a:p>
          <a:p>
            <a:pPr lvl="1"/>
            <a:r>
              <a:rPr lang="en-US" altLang="ko-KR" sz="18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&lt;res&gt; = sext &lt;iN1&gt; &lt;value&gt; to &lt;iN2&gt;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/>
              <a:t>where </a:t>
            </a:r>
            <a:br>
              <a:rPr lang="en-US" altLang="ko-KR" sz="2000" dirty="0"/>
            </a:b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iN1</a:t>
            </a:r>
            <a:r>
              <a:rPr lang="en-US" altLang="ko-KR" sz="2000" dirty="0"/>
              <a:t> and 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iN2</a:t>
            </a:r>
            <a:r>
              <a:rPr lang="en-US" altLang="ko-KR" sz="2000" dirty="0"/>
              <a:t> are of integer type, and 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N1</a:t>
            </a:r>
            <a:r>
              <a:rPr lang="en-US" altLang="ko-KR" sz="2000" dirty="0"/>
              <a:t> &lt; 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N2</a:t>
            </a:r>
          </a:p>
          <a:p>
            <a:pPr lvl="1"/>
            <a:r>
              <a:rPr lang="en-US" altLang="ko-KR" sz="2000" dirty="0"/>
              <a:t>Fill the remaining bits with the sign bit (the highest order bit) of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endParaRPr lang="en-US" altLang="ko-KR" sz="2000" dirty="0"/>
          </a:p>
          <a:p>
            <a:pPr lvl="1"/>
            <a:r>
              <a:rPr lang="en-US" altLang="ko-KR" sz="2000" dirty="0"/>
              <a:t>Examples </a:t>
            </a:r>
          </a:p>
          <a:p>
            <a:pPr lvl="2"/>
            <a:r>
              <a:rPr lang="pl-PL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sext </a:t>
            </a:r>
            <a:r>
              <a:rPr lang="pl-PL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%X becomes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65535</a:t>
            </a:r>
            <a:endParaRPr lang="pl-PL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pl-PL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%Y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sext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%Y becomes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  <a:r>
              <a:rPr lang="pl-PL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ko-KR" sz="16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endParaRPr lang="pl-PL" altLang="ko-KR" sz="1600" baseline="30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99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Other Conversions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79301"/>
            <a:ext cx="8686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400" dirty="0"/>
              <a:t>Float-to-float</a:t>
            </a:r>
          </a:p>
          <a:p>
            <a:pPr lvl="1"/>
            <a:r>
              <a:rPr lang="en-US" altLang="ko-K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fptrunc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.. to</a:t>
            </a:r>
            <a:r>
              <a:rPr lang="en-US" altLang="ko-KR" sz="2200" dirty="0"/>
              <a:t>, </a:t>
            </a:r>
            <a:r>
              <a:rPr lang="en-US" altLang="ko-K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fpext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.. to</a:t>
            </a:r>
          </a:p>
          <a:p>
            <a:r>
              <a:rPr lang="en-US" altLang="ko-KR" sz="2400" dirty="0"/>
              <a:t>Float-to-integer (vice versa)</a:t>
            </a:r>
          </a:p>
          <a:p>
            <a:pPr lvl="1"/>
            <a:r>
              <a:rPr lang="en-US" altLang="ko-K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fptoui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.. to</a:t>
            </a:r>
            <a:r>
              <a:rPr lang="en-US" altLang="ko-KR" sz="2200" dirty="0"/>
              <a:t>, </a:t>
            </a:r>
            <a:r>
              <a:rPr lang="en-US" altLang="ko-K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fptosi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.. to</a:t>
            </a:r>
            <a:r>
              <a:rPr lang="en-US" altLang="ko-KR" sz="2200" dirty="0"/>
              <a:t>, </a:t>
            </a:r>
            <a:r>
              <a:rPr lang="en-US" altLang="ko-K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uitofp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.. to</a:t>
            </a:r>
            <a:r>
              <a:rPr lang="en-US" altLang="ko-KR" sz="2200" dirty="0"/>
              <a:t>, </a:t>
            </a:r>
            <a:r>
              <a:rPr lang="en-US" altLang="ko-K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sitofp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.. To</a:t>
            </a:r>
          </a:p>
          <a:p>
            <a:pPr lvl="1"/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Ex. %X = </a:t>
            </a:r>
            <a:r>
              <a:rPr lang="en-US" altLang="ko-K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fptoui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double 123.0 to i32</a:t>
            </a:r>
          </a:p>
          <a:p>
            <a:r>
              <a:rPr lang="en-US" altLang="ko-KR" sz="2400" dirty="0"/>
              <a:t>Pointer-to-integer</a:t>
            </a:r>
          </a:p>
          <a:p>
            <a:pPr lvl="1"/>
            <a:r>
              <a:rPr lang="en-US" altLang="ko-K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ptrtoint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.. to</a:t>
            </a:r>
            <a:r>
              <a:rPr lang="en-US" altLang="ko-KR" sz="2200" dirty="0"/>
              <a:t>, </a:t>
            </a:r>
            <a:r>
              <a:rPr lang="en-US" altLang="ko-K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inttoptr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.. to</a:t>
            </a:r>
          </a:p>
          <a:p>
            <a:pPr lvl="1"/>
            <a:endParaRPr lang="en-US" altLang="ko-KR" sz="1100" dirty="0"/>
          </a:p>
          <a:p>
            <a:r>
              <a:rPr lang="en-US" altLang="ko-KR" sz="2400" dirty="0" err="1"/>
              <a:t>Bitcast</a:t>
            </a:r>
            <a:endParaRPr lang="en-US" altLang="ko-KR" sz="2400" dirty="0"/>
          </a:p>
          <a:p>
            <a:pPr lvl="1"/>
            <a: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&lt;res&gt; = </a:t>
            </a:r>
            <a:r>
              <a:rPr lang="en-US" altLang="ko-KR" sz="22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bitcast</a:t>
            </a:r>
            <a: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&lt;t1&gt; &lt;value&gt; to &lt;t2&gt;</a:t>
            </a:r>
            <a:b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2200" dirty="0"/>
              <a:t>where 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lang="en-US" altLang="ko-KR" sz="2200" dirty="0"/>
              <a:t> and 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  <a:r>
              <a:rPr lang="en-US" altLang="ko-KR" sz="2200" dirty="0"/>
              <a:t> should be different types and have the same size</a:t>
            </a:r>
          </a:p>
          <a:p>
            <a:pPr lvl="1"/>
            <a:r>
              <a:rPr lang="en-US" altLang="ko-KR" sz="2200" dirty="0" err="1"/>
              <a:t>bitcast</a:t>
            </a:r>
            <a:r>
              <a:rPr lang="en-US" altLang="ko-KR" sz="2200" dirty="0"/>
              <a:t> does not change any bit (i.e., no-op cast)</a:t>
            </a:r>
          </a:p>
          <a:p>
            <a:pPr lvl="1"/>
            <a:r>
              <a:rPr lang="en-US" altLang="ko-KR" sz="2200" dirty="0"/>
              <a:t>%z = </a:t>
            </a:r>
            <a:r>
              <a:rPr lang="en-US" altLang="ko-KR" sz="2200" dirty="0" err="1"/>
              <a:t>bitcast</a:t>
            </a:r>
            <a:r>
              <a:rPr lang="en-US" altLang="ko-KR" sz="2200" dirty="0"/>
              <a:t> &lt;2 x int&gt; %v to i64   </a:t>
            </a:r>
            <a:endParaRPr lang="ko-KR" altLang="en-US" sz="22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748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Computational Instructions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Binary operations: </a:t>
            </a:r>
          </a:p>
          <a:p>
            <a:pPr lvl="1"/>
            <a:r>
              <a:rPr lang="en-US" altLang="ko-KR" sz="2400" dirty="0"/>
              <a:t>Add: </a:t>
            </a:r>
            <a:r>
              <a:rPr lang="en-US" altLang="ko-KR" sz="24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altLang="ko-KR" sz="2400">
                <a:cs typeface="Courier New" panose="02070309020205020404" pitchFamily="49" charset="0"/>
              </a:rPr>
              <a:t>, </a:t>
            </a:r>
            <a:r>
              <a:rPr lang="en-US" altLang="ko-KR" sz="240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fadd</a:t>
            </a:r>
            <a:r>
              <a:rPr lang="en-US" altLang="ko-KR" sz="2400">
                <a:cs typeface="Courier New" panose="02070309020205020404" pitchFamily="49" charset="0"/>
              </a:rPr>
              <a:t> ,</a:t>
            </a:r>
            <a:r>
              <a:rPr lang="en-US" altLang="ko-KR" sz="240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  <a:r>
              <a:rPr lang="en-US" altLang="ko-KR" sz="2400">
                <a:cs typeface="Courier New" panose="02070309020205020404" pitchFamily="49" charset="0"/>
              </a:rPr>
              <a:t>, 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fsub</a:t>
            </a:r>
            <a:endParaRPr lang="en-US" altLang="ko-KR" sz="2400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2400" dirty="0"/>
              <a:t>Multiplication: 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altLang="ko-KR" sz="2400" dirty="0">
                <a:cs typeface="Courier New" panose="02070309020205020404" pitchFamily="49" charset="0"/>
              </a:rPr>
              <a:t> , 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fmul</a:t>
            </a:r>
            <a:endParaRPr lang="en-US" altLang="ko-KR" sz="2400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2400" dirty="0"/>
              <a:t>Division: 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udiv</a:t>
            </a:r>
            <a:r>
              <a:rPr lang="en-US" altLang="ko-KR" sz="2400" dirty="0">
                <a:cs typeface="Courier New" panose="02070309020205020404" pitchFamily="49" charset="0"/>
              </a:rPr>
              <a:t> , 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sdiv</a:t>
            </a:r>
            <a:r>
              <a:rPr lang="en-US" altLang="ko-KR" sz="2400" dirty="0">
                <a:cs typeface="Courier New" panose="02070309020205020404" pitchFamily="49" charset="0"/>
              </a:rPr>
              <a:t> , 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fdiv</a:t>
            </a:r>
            <a:endParaRPr lang="en-US" altLang="ko-KR" sz="2400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2400" dirty="0"/>
              <a:t>Remainder:  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urem</a:t>
            </a:r>
            <a:r>
              <a:rPr lang="en-US" altLang="ko-KR" sz="2400" dirty="0">
                <a:cs typeface="Courier New" panose="02070309020205020404" pitchFamily="49" charset="0"/>
              </a:rPr>
              <a:t> , 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srem</a:t>
            </a:r>
            <a:r>
              <a:rPr lang="en-US" altLang="ko-KR" sz="2400" dirty="0">
                <a:cs typeface="Courier New" panose="02070309020205020404" pitchFamily="49" charset="0"/>
              </a:rPr>
              <a:t> , 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frem</a:t>
            </a:r>
            <a:endParaRPr lang="en-US" altLang="ko-KR" sz="2400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 sz="1600" dirty="0"/>
          </a:p>
          <a:p>
            <a:r>
              <a:rPr lang="en-US" altLang="ko-KR" sz="2800" dirty="0"/>
              <a:t>Bitwise binary operations</a:t>
            </a:r>
          </a:p>
          <a:p>
            <a:pPr lvl="1"/>
            <a:r>
              <a:rPr lang="en-US" altLang="ko-KR" sz="2400" dirty="0"/>
              <a:t>shift operations: 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shl</a:t>
            </a:r>
            <a:r>
              <a:rPr lang="en-US" altLang="ko-KR" sz="2400" dirty="0">
                <a:cs typeface="Courier New" panose="02070309020205020404" pitchFamily="49" charset="0"/>
              </a:rPr>
              <a:t> </a:t>
            </a:r>
            <a:r>
              <a:rPr lang="en-US" altLang="ko-KR" sz="2400">
                <a:cs typeface="Courier New" panose="02070309020205020404" pitchFamily="49" charset="0"/>
              </a:rPr>
              <a:t>, </a:t>
            </a:r>
            <a:r>
              <a:rPr lang="en-US" altLang="ko-KR" sz="240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lshr</a:t>
            </a:r>
            <a:r>
              <a:rPr lang="en-US" altLang="ko-KR" sz="2400">
                <a:cs typeface="Courier New" panose="02070309020205020404" pitchFamily="49" charset="0"/>
              </a:rPr>
              <a:t> </a:t>
            </a:r>
            <a:r>
              <a:rPr lang="en-US" altLang="ko-KR" sz="2400" dirty="0">
                <a:cs typeface="Courier New" panose="02070309020205020404" pitchFamily="49" charset="0"/>
              </a:rPr>
              <a:t>, 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ashr</a:t>
            </a:r>
            <a:endParaRPr lang="en-US" altLang="ko-KR" sz="2400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2400" dirty="0"/>
              <a:t>logical operations: </a:t>
            </a:r>
            <a:r>
              <a:rPr lang="en-US" altLang="ko-KR" sz="24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altLang="ko-KR" sz="2400" dirty="0">
                <a:cs typeface="Courier New" panose="02070309020205020404" pitchFamily="49" charset="0"/>
              </a:rPr>
              <a:t> , </a:t>
            </a:r>
            <a:r>
              <a:rPr lang="en-US" altLang="ko-KR" sz="24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altLang="ko-KR" sz="2400" dirty="0">
                <a:cs typeface="Courier New" panose="02070309020205020404" pitchFamily="49" charset="0"/>
              </a:rPr>
              <a:t> , 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endParaRPr lang="ko-KR" altLang="en-US" sz="2400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909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Add Instruction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altLang="ko-KR" sz="24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&lt;res&gt; = add [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nuw</a:t>
            </a:r>
            <a:r>
              <a:rPr lang="en-US" altLang="ko-KR" sz="24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nsw</a:t>
            </a:r>
            <a:r>
              <a:rPr lang="en-US" altLang="ko-KR" sz="24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</a:t>
            </a:r>
            <a:r>
              <a:rPr lang="en-US" altLang="ko-KR" sz="24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ko-KR" sz="24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&lt;op1&gt;, &lt;op2&gt;</a:t>
            </a:r>
          </a:p>
          <a:p>
            <a:pPr lvl="1">
              <a:spcBef>
                <a:spcPts val="600"/>
              </a:spcBef>
            </a:pPr>
            <a:endParaRPr lang="en-US" altLang="ko-KR" sz="300" dirty="0"/>
          </a:p>
          <a:p>
            <a:pPr lvl="1">
              <a:spcBef>
                <a:spcPts val="600"/>
              </a:spcBef>
            </a:pPr>
            <a:r>
              <a:rPr lang="en-US" altLang="ko-KR" sz="2400" dirty="0" err="1"/>
              <a:t>nuw</a:t>
            </a:r>
            <a:r>
              <a:rPr lang="en-US" altLang="ko-KR" sz="2400" dirty="0"/>
              <a:t> (no unsigned wrap): if unsigned overflow occurs, </a:t>
            </a:r>
            <a:br>
              <a:rPr lang="en-US" altLang="ko-KR" sz="2400" dirty="0"/>
            </a:br>
            <a:r>
              <a:rPr lang="en-US" altLang="ko-KR" sz="2400" dirty="0"/>
              <a:t>the result value becomes a </a:t>
            </a:r>
            <a:r>
              <a:rPr lang="en-US" altLang="ko-KR" sz="2400" b="1" dirty="0"/>
              <a:t>poison value (undefined)</a:t>
            </a:r>
          </a:p>
          <a:p>
            <a:pPr lvl="2">
              <a:spcBef>
                <a:spcPts val="600"/>
              </a:spcBef>
            </a:pPr>
            <a:r>
              <a:rPr lang="en-US" altLang="ko-KR" sz="2000" dirty="0" err="1"/>
              <a:t>E</a:t>
            </a:r>
            <a:r>
              <a:rPr lang="en-US" altLang="ko-KR" sz="2000" err="1"/>
              <a:t>.</a:t>
            </a:r>
            <a:r>
              <a:rPr lang="en-US" altLang="ko-KR" sz="2000"/>
              <a:t>g.</a:t>
            </a:r>
            <a:r>
              <a:rPr lang="en-US" altLang="ko-KR" sz="2000" dirty="0"/>
              <a:t>,</a:t>
            </a:r>
            <a:r>
              <a:rPr lang="en-US" altLang="ko-KR" sz="2000"/>
              <a:t> 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i8 255, i8 1</a:t>
            </a:r>
          </a:p>
          <a:p>
            <a:pPr lvl="1">
              <a:spcBef>
                <a:spcPts val="600"/>
              </a:spcBef>
            </a:pPr>
            <a:endParaRPr lang="en-US" altLang="ko-KR" sz="800" dirty="0"/>
          </a:p>
          <a:p>
            <a:pPr lvl="1">
              <a:spcBef>
                <a:spcPts val="600"/>
              </a:spcBef>
            </a:pPr>
            <a:r>
              <a:rPr lang="en-US" altLang="ko-KR" sz="2400" dirty="0" err="1"/>
              <a:t>nsw</a:t>
            </a:r>
            <a:r>
              <a:rPr lang="en-US" altLang="ko-KR" sz="2400" dirty="0"/>
              <a:t> (no signed wrap): if signed overflow occurs, </a:t>
            </a:r>
            <a:br>
              <a:rPr lang="en-US" altLang="ko-KR" sz="2400" dirty="0"/>
            </a:br>
            <a:r>
              <a:rPr lang="en-US" altLang="ko-KR" sz="2400" dirty="0"/>
              <a:t>the result value becomes a poison value</a:t>
            </a:r>
          </a:p>
          <a:p>
            <a:pPr lvl="2">
              <a:spcBef>
                <a:spcPts val="600"/>
              </a:spcBef>
            </a:pPr>
            <a:r>
              <a:rPr lang="en-US" altLang="ko-KR" sz="2000" dirty="0"/>
              <a:t>E.</a:t>
            </a:r>
            <a:r>
              <a:rPr lang="en-US" altLang="ko-KR" sz="2000"/>
              <a:t>g.,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i8 127, i8 1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54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Control Representation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200" dirty="0"/>
              <a:t>The LLVM front-end constructs the control flow graph (CFG) of every function explicitly in LLVM IR</a:t>
            </a:r>
          </a:p>
          <a:p>
            <a:pPr lvl="1"/>
            <a:r>
              <a:rPr lang="en-US" altLang="ko-KR" sz="2000" dirty="0"/>
              <a:t>A function has a set of basic blocks each of which is a sequence of instructions</a:t>
            </a:r>
          </a:p>
          <a:p>
            <a:pPr lvl="1"/>
            <a:r>
              <a:rPr lang="en-US" altLang="ko-KR" sz="2000" dirty="0"/>
              <a:t>A function has exactly one entry basic block</a:t>
            </a:r>
          </a:p>
          <a:p>
            <a:pPr lvl="1"/>
            <a:r>
              <a:rPr lang="en-US" altLang="ko-KR" sz="2000" dirty="0"/>
              <a:t>Every basic block is ended with exactly one </a:t>
            </a:r>
            <a:r>
              <a:rPr lang="en-US" altLang="ko-KR" sz="2000" i="1" dirty="0">
                <a:solidFill>
                  <a:srgbClr val="FF0000"/>
                </a:solidFill>
              </a:rPr>
              <a:t>terminator</a:t>
            </a:r>
            <a:r>
              <a:rPr lang="en-US" altLang="ko-KR" sz="2000" dirty="0">
                <a:solidFill>
                  <a:srgbClr val="FF0000"/>
                </a:solidFill>
              </a:rPr>
              <a:t> instruction</a:t>
            </a:r>
            <a:r>
              <a:rPr lang="en-US" altLang="ko-KR" sz="2000" dirty="0"/>
              <a:t> which explicitly specifies its successor basic blocks if there exist.</a:t>
            </a:r>
          </a:p>
          <a:p>
            <a:pPr lvl="2"/>
            <a:r>
              <a:rPr lang="en-US" altLang="ko-KR" sz="1800" dirty="0"/>
              <a:t>Terminator instructions: branches (conditional, unconditional), return</a:t>
            </a:r>
            <a:r>
              <a:rPr lang="en-US" altLang="ko-KR" sz="1800"/>
              <a:t>, etc.</a:t>
            </a:r>
            <a:endParaRPr lang="en-US" altLang="ko-KR" sz="1800" dirty="0">
              <a:solidFill>
                <a:schemeClr val="bg1">
                  <a:lumMod val="50000"/>
                </a:schemeClr>
              </a:solidFill>
            </a:endParaRPr>
          </a:p>
          <a:p>
            <a:pPr lvl="2"/>
            <a:endParaRPr lang="en-US" altLang="ko-KR" sz="1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2200" dirty="0"/>
              <a:t>Due to its simple control flow structure, it is convenient to analyze, transform the target program in LLVM IR</a:t>
            </a:r>
            <a:endParaRPr lang="ko-KR" altLang="en-US" sz="22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788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Label, Return, and Unconditional Branch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497363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A label is located at the start of a basic block</a:t>
            </a:r>
          </a:p>
          <a:p>
            <a:pPr lvl="1"/>
            <a:r>
              <a:rPr lang="en-US" altLang="ko-KR" sz="2200" dirty="0"/>
              <a:t>Each basic block is addressed as the start label</a:t>
            </a:r>
          </a:p>
          <a:p>
            <a:pPr lvl="1"/>
            <a:r>
              <a:rPr lang="en-US" altLang="ko-KR" sz="2200" dirty="0"/>
              <a:t>A label 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ko-KR" sz="2200" dirty="0"/>
              <a:t> is referenced as register 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%x</a:t>
            </a:r>
            <a:r>
              <a:rPr lang="en-US" altLang="ko-KR" sz="2200" dirty="0"/>
              <a:t> whose type is label</a:t>
            </a:r>
          </a:p>
          <a:p>
            <a:pPr lvl="1"/>
            <a:r>
              <a:rPr lang="en-US" altLang="ko-KR" sz="2200" dirty="0"/>
              <a:t>The label of the entry block of a function is “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entry</a:t>
            </a:r>
            <a:r>
              <a:rPr lang="en-US" altLang="ko-KR" sz="2200" dirty="0"/>
              <a:t>”</a:t>
            </a:r>
          </a:p>
          <a:p>
            <a:pPr lvl="1"/>
            <a:endParaRPr lang="en-US" altLang="ko-KR" sz="1400" dirty="0"/>
          </a:p>
          <a:p>
            <a:r>
              <a:rPr lang="en-US" altLang="ko-KR" sz="2400" dirty="0"/>
              <a:t>Return </a:t>
            </a:r>
            <a:r>
              <a:rPr lang="en-US" altLang="ko-KR" sz="24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 &lt;type&gt; &lt;value&gt; | ret void</a:t>
            </a:r>
          </a:p>
          <a:p>
            <a:pPr lvl="1"/>
            <a:endParaRPr lang="en-US" altLang="ko-KR" sz="1100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400" dirty="0"/>
              <a:t>Unconditional branch </a:t>
            </a:r>
            <a:r>
              <a:rPr lang="en-US" altLang="ko-KR" sz="2400" b="1" dirty="0"/>
              <a:t> </a:t>
            </a:r>
            <a:r>
              <a:rPr lang="en-US" altLang="ko-KR" sz="22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22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label &lt;</a:t>
            </a:r>
            <a:r>
              <a:rPr lang="en-US" altLang="ko-KR" sz="22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altLang="ko-KR" sz="22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r>
              <a:rPr lang="en-US" altLang="ko-KR" sz="2200" dirty="0"/>
              <a:t>At the end of a basic block, this instruction makes a transition to the basic block starting with label </a:t>
            </a:r>
            <a:r>
              <a:rPr lang="en-US" altLang="ko-KR" sz="22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ko-KR" sz="22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altLang="ko-KR" sz="22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r>
              <a:rPr lang="en-US" altLang="ko-KR" sz="2200" dirty="0" err="1"/>
              <a:t>E.g</a:t>
            </a:r>
            <a:r>
              <a:rPr lang="en-US" altLang="ko-KR" sz="2200" dirty="0"/>
              <a:t>: </a:t>
            </a:r>
            <a:r>
              <a:rPr lang="en-US" altLang="ko-K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label %entry</a:t>
            </a:r>
          </a:p>
          <a:p>
            <a:pPr lvl="1"/>
            <a:endParaRPr lang="en-US" altLang="ko-KR" sz="2000" dirty="0"/>
          </a:p>
          <a:p>
            <a:endParaRPr lang="ko-KR" altLang="en-US" sz="24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5146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2008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Conditional Branch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3744416"/>
          </a:xfrm>
        </p:spPr>
        <p:txBody>
          <a:bodyPr>
            <a:normAutofit lnSpcReduction="10000"/>
          </a:bodyPr>
          <a:lstStyle/>
          <a:p>
            <a: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&lt;res&gt; = </a:t>
            </a:r>
            <a:r>
              <a:rPr lang="en-US" altLang="ko-KR" sz="22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icmp</a:t>
            </a:r>
            <a: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ko-KR" sz="22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&lt;ty&gt; &lt;op1&gt;, &lt;op2&gt;</a:t>
            </a:r>
          </a:p>
          <a:p>
            <a:pPr lvl="1"/>
            <a:r>
              <a:rPr lang="en-US" altLang="ko-KR" sz="1800" dirty="0"/>
              <a:t>Returns either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ko-KR" sz="1800" dirty="0"/>
              <a:t> 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altLang="ko-KR" sz="1800" dirty="0"/>
              <a:t> (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i1</a:t>
            </a:r>
            <a:r>
              <a:rPr lang="en-US" altLang="ko-KR" sz="1800" dirty="0"/>
              <a:t>) based on comparison of two variables (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op1</a:t>
            </a:r>
            <a:r>
              <a:rPr lang="en-US" altLang="ko-KR" sz="1800" dirty="0"/>
              <a:t> and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op2</a:t>
            </a:r>
            <a:r>
              <a:rPr lang="en-US" altLang="ko-KR" sz="1800" dirty="0"/>
              <a:t>) of the same type (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ty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8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ko-KR" sz="1800" dirty="0"/>
              <a:t>:  comparison option</a:t>
            </a:r>
          </a:p>
          <a:p>
            <a:pPr marL="1371600" lvl="3" indent="0"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</a:t>
            </a:r>
            <a:r>
              <a:rPr lang="en-US" altLang="ko-KR" sz="1600" dirty="0"/>
              <a:t> (equal),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ne</a:t>
            </a:r>
            <a:r>
              <a:rPr lang="en-US" altLang="ko-KR" sz="1600" dirty="0"/>
              <a:t> (not equal),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ugt</a:t>
            </a:r>
            <a:r>
              <a:rPr lang="en-US" altLang="ko-KR" sz="1600" dirty="0"/>
              <a:t> (unsigned greater than), </a:t>
            </a:r>
            <a:br>
              <a:rPr lang="en-US" altLang="ko-KR" sz="1600" dirty="0"/>
            </a:b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uge</a:t>
            </a:r>
            <a:r>
              <a:rPr lang="en-US" altLang="ko-KR" sz="1600" dirty="0"/>
              <a:t> (unsigned greater or equal),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ult</a:t>
            </a:r>
            <a:r>
              <a:rPr lang="en-US" altLang="ko-KR" sz="1600" dirty="0"/>
              <a:t> (unsigned less than), </a:t>
            </a:r>
            <a:br>
              <a:rPr lang="en-US" altLang="ko-KR" sz="1600" dirty="0"/>
            </a:b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ule</a:t>
            </a:r>
            <a:r>
              <a:rPr lang="en-US" altLang="ko-KR" sz="1600" dirty="0"/>
              <a:t> (unsigned less or equal),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sgt</a:t>
            </a:r>
            <a:r>
              <a:rPr lang="en-US" altLang="ko-KR" sz="1600" dirty="0"/>
              <a:t> (signed greater than), </a:t>
            </a:r>
            <a:br>
              <a:rPr lang="en-US" altLang="ko-KR" sz="1600" dirty="0"/>
            </a:b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sge</a:t>
            </a:r>
            <a:r>
              <a:rPr lang="en-US" altLang="ko-KR" sz="1600" dirty="0"/>
              <a:t> (signed greater or equal),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altLang="ko-KR" sz="1600" dirty="0"/>
              <a:t> (signed less than),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/>
              <a:t>(signed less or equal)</a:t>
            </a:r>
          </a:p>
          <a:p>
            <a:r>
              <a:rPr lang="en-US" altLang="ko-KR" sz="22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i1 &lt;</a:t>
            </a:r>
            <a:r>
              <a:rPr lang="en-US" altLang="ko-KR" sz="22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&gt;, label &lt;</a:t>
            </a:r>
            <a:r>
              <a:rPr lang="en-US" altLang="ko-KR" sz="22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thenbb</a:t>
            </a:r>
            <a: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&gt;, label &lt;</a:t>
            </a:r>
            <a:r>
              <a:rPr lang="en-US" altLang="ko-KR" sz="22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elsebb</a:t>
            </a:r>
            <a: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r>
              <a:rPr lang="en-US" altLang="ko-KR" sz="1800" dirty="0"/>
              <a:t>Causes the current execution to transfer to the basic block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thenbb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ko-KR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if the value of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ko-KR" sz="1800" dirty="0"/>
              <a:t> is true; to the basic block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elsebb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ko-KR" sz="1800" dirty="0"/>
              <a:t> otherwise.</a:t>
            </a:r>
          </a:p>
          <a:p>
            <a:endParaRPr lang="en-US" altLang="ko-KR" sz="1400" dirty="0"/>
          </a:p>
          <a:p>
            <a:r>
              <a:rPr lang="en-US" altLang="ko-KR" sz="2200" dirty="0"/>
              <a:t>Example: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83568" y="4869160"/>
            <a:ext cx="2592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(x &gt; y) 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 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 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 ;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63888" y="4725144"/>
            <a:ext cx="561662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11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12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%y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13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icmp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14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if.then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if.end</a:t>
            </a:r>
            <a:endParaRPr lang="en-US" altLang="ko-KR" sz="160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 sz="80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15 </a:t>
            </a:r>
            <a:r>
              <a:rPr lang="en-US" altLang="ko-KR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if.then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2882181" y="4869160"/>
            <a:ext cx="609699" cy="535596"/>
          </a:xfrm>
          <a:prstGeom prst="rightArrow">
            <a:avLst>
              <a:gd name="adj1" fmla="val 50000"/>
              <a:gd name="adj2" fmla="val 71341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21000">
                <a:schemeClr val="accent1">
                  <a:tint val="44500"/>
                  <a:satMod val="160000"/>
                </a:schemeClr>
              </a:gs>
              <a:gs pos="9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0894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54968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Switch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2476872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 &lt;</a:t>
            </a:r>
            <a:r>
              <a:rPr lang="en-US" altLang="ko-KR" sz="20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&lt;value&gt;, label &lt;</a:t>
            </a:r>
            <a:r>
              <a:rPr lang="en-US" altLang="ko-KR" sz="20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defaultdest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b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[&lt;</a:t>
            </a:r>
            <a:r>
              <a:rPr lang="en-US" altLang="ko-KR" sz="20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en-US" altLang="ko-KR" sz="20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&gt;, label &lt;</a:t>
            </a:r>
            <a:r>
              <a:rPr lang="en-US" altLang="ko-KR" sz="20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…]</a:t>
            </a:r>
          </a:p>
          <a:p>
            <a:pPr lvl="1"/>
            <a:r>
              <a:rPr lang="en-US" altLang="ko-KR" sz="2000" dirty="0"/>
              <a:t>Transfer control flow to one of many possible destinations</a:t>
            </a:r>
          </a:p>
          <a:p>
            <a:pPr lvl="1"/>
            <a:r>
              <a:rPr lang="en-US" altLang="ko-KR" sz="2000" dirty="0"/>
              <a:t>If the value is found 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ko-KR" sz="2000" dirty="0"/>
              <a:t>), control flow is transferred to the corresponding destination 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altLang="ko-KR" sz="2000" dirty="0"/>
              <a:t>); or to the default destination 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defaultdest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2000" dirty="0"/>
              <a:t>Examples: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19672" y="3548740"/>
            <a:ext cx="1872208" cy="1680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switch(x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1:</a:t>
            </a:r>
          </a:p>
          <a:p>
            <a:pPr>
              <a:lnSpc>
                <a:spcPct val="80000"/>
              </a:lnSpc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break ;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2:</a:t>
            </a:r>
          </a:p>
          <a:p>
            <a:pPr>
              <a:lnSpc>
                <a:spcPct val="80000"/>
              </a:lnSpc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break ;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16016" y="3501008"/>
            <a:ext cx="439248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</a:t>
            </a:r>
          </a:p>
          <a:p>
            <a:pPr>
              <a:lnSpc>
                <a:spcPct val="80000"/>
              </a:lnSpc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sw.default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1,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%sw.bb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2,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%sw.bb1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lnSpc>
                <a:spcPct val="80000"/>
              </a:lnSpc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sw.bb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sw.epilog</a:t>
            </a:r>
            <a:endParaRPr lang="en-US" altLang="ko-KR" sz="1600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ko-KR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sw.bb1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sw.epilog</a:t>
            </a:r>
            <a:endParaRPr lang="en-US" altLang="ko-KR" sz="1600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ko-KR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sw.default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sw.epilog</a:t>
            </a:r>
            <a:endParaRPr lang="en-US" altLang="ko-KR" sz="1600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ko-KR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sw.epilog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</p:txBody>
      </p:sp>
      <p:sp>
        <p:nvSpPr>
          <p:cNvPr id="9" name="오른쪽 화살표 8"/>
          <p:cNvSpPr/>
          <p:nvPr/>
        </p:nvSpPr>
        <p:spPr>
          <a:xfrm>
            <a:off x="3602261" y="3685492"/>
            <a:ext cx="609699" cy="535596"/>
          </a:xfrm>
          <a:prstGeom prst="rightArrow">
            <a:avLst>
              <a:gd name="adj1" fmla="val 50000"/>
              <a:gd name="adj2" fmla="val 71341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21000">
                <a:schemeClr val="accent1">
                  <a:tint val="44500"/>
                  <a:satMod val="160000"/>
                </a:schemeClr>
              </a:gs>
              <a:gs pos="9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187624" y="3548740"/>
            <a:ext cx="576064" cy="166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83968" y="3505837"/>
            <a:ext cx="504056" cy="280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pPr>
              <a:lnSpc>
                <a:spcPct val="80000"/>
              </a:lnSpc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pPr>
              <a:lnSpc>
                <a:spcPct val="80000"/>
              </a:lnSpc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pPr>
              <a:lnSpc>
                <a:spcPct val="80000"/>
              </a:lnSpc>
            </a:pPr>
            <a:endParaRPr lang="en-US" altLang="ko-KR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pPr>
              <a:lnSpc>
                <a:spcPct val="80000"/>
              </a:lnSpc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906046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b="0" dirty="0"/>
                  <a:t>PHI 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𝛷</m:t>
                    </m:r>
                  </m:oMath>
                </a14:m>
                <a:r>
                  <a:rPr lang="en-US" altLang="ko-KR" dirty="0"/>
                  <a:t>) instruction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600201"/>
            <a:ext cx="8229600" cy="2188840"/>
          </a:xfrm>
        </p:spPr>
        <p:txBody>
          <a:bodyPr/>
          <a:lstStyle/>
          <a:p>
            <a: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&lt;res&gt; = phi &lt;t&gt; [ &lt;val_0&gt;, &lt;label_0&gt;], </a:t>
            </a:r>
            <a:b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22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[ &lt;val_1&gt;, &lt;label_1&gt;], …</a:t>
            </a:r>
          </a:p>
          <a:p>
            <a:pPr lvl="1"/>
            <a:r>
              <a:rPr lang="en-US" altLang="ko-KR" sz="2000" dirty="0"/>
              <a:t>Return a value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val_i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/>
              <a:t>of type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2000" dirty="0"/>
              <a:t> such that the basic block executed right before the current one is of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label_i</a:t>
            </a:r>
            <a:endParaRPr lang="en-US" altLang="ko-K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 sz="1600" dirty="0">
              <a:cs typeface="Courier New" panose="02070309020205020404" pitchFamily="49" charset="0"/>
            </a:endParaRPr>
          </a:p>
          <a:p>
            <a:r>
              <a:rPr lang="en-US" altLang="ko-KR" sz="2400" dirty="0">
                <a:cs typeface="Courier New" panose="02070309020205020404" pitchFamily="49" charset="0"/>
              </a:rPr>
              <a:t>Example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51520" y="3882534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 y = (x &gt; 0) ? x : 0 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5936" y="3645024"/>
            <a:ext cx="5112568" cy="2628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11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 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12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icmp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i32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 0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13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%c.t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c.f</a:t>
            </a:r>
            <a:endParaRPr lang="en-US" altLang="ko-KR" sz="160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14 </a:t>
            </a:r>
            <a:r>
              <a:rPr lang="en-US" altLang="ko-KR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c.t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15 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16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c.end</a:t>
            </a:r>
            <a:endParaRPr lang="en-US" altLang="ko-KR" sz="160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17 </a:t>
            </a:r>
            <a:r>
              <a:rPr lang="en-US" altLang="ko-KR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18 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c.end</a:t>
            </a:r>
            <a:endParaRPr lang="en-US" altLang="ko-KR" sz="160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19 </a:t>
            </a:r>
            <a:r>
              <a:rPr lang="en-US" altLang="ko-KR" sz="16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c.end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20 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%res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phi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%c.t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], [0,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%c.f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lnSpc>
                <a:spcPct val="80000"/>
              </a:lnSpc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21 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%res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%y</a:t>
            </a:r>
          </a:p>
        </p:txBody>
      </p:sp>
      <p:sp>
        <p:nvSpPr>
          <p:cNvPr id="9" name="오른쪽 화살표 8"/>
          <p:cNvSpPr/>
          <p:nvPr/>
        </p:nvSpPr>
        <p:spPr>
          <a:xfrm>
            <a:off x="3386237" y="3784013"/>
            <a:ext cx="609699" cy="535596"/>
          </a:xfrm>
          <a:prstGeom prst="rightArrow">
            <a:avLst>
              <a:gd name="adj1" fmla="val 50000"/>
              <a:gd name="adj2" fmla="val 71341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21000">
                <a:schemeClr val="accent1">
                  <a:tint val="44500"/>
                  <a:satMod val="160000"/>
                </a:schemeClr>
              </a:gs>
              <a:gs pos="9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092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800" dirty="0">
                <a:solidFill>
                  <a:srgbClr val="0033CC"/>
                </a:solidFill>
              </a:rPr>
              <a:t>&lt;result&gt; = </a:t>
            </a:r>
            <a:r>
              <a:rPr lang="en-US" altLang="ko-KR" sz="28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ko-KR" sz="2800" dirty="0">
                <a:solidFill>
                  <a:srgbClr val="0033CC"/>
                </a:solidFill>
              </a:rPr>
              <a:t> &lt;</a:t>
            </a:r>
            <a:r>
              <a:rPr lang="en-US" altLang="ko-KR" sz="2800" dirty="0" err="1">
                <a:solidFill>
                  <a:srgbClr val="0033CC"/>
                </a:solidFill>
              </a:rPr>
              <a:t>selty</a:t>
            </a:r>
            <a:r>
              <a:rPr lang="en-US" altLang="ko-KR" sz="2800" dirty="0">
                <a:solidFill>
                  <a:srgbClr val="0033CC"/>
                </a:solidFill>
              </a:rPr>
              <a:t>&gt; &lt;</a:t>
            </a:r>
            <a:r>
              <a:rPr lang="en-US" altLang="ko-KR" sz="2800" dirty="0" err="1">
                <a:solidFill>
                  <a:srgbClr val="0033CC"/>
                </a:solidFill>
              </a:rPr>
              <a:t>cond</a:t>
            </a:r>
            <a:r>
              <a:rPr lang="en-US" altLang="ko-KR" sz="2800" dirty="0">
                <a:solidFill>
                  <a:srgbClr val="0033CC"/>
                </a:solidFill>
              </a:rPr>
              <a:t>&gt;, &lt;ty&gt; &lt;val1&gt;, &lt;ty&gt; &lt;val2&gt; ; </a:t>
            </a:r>
          </a:p>
          <a:p>
            <a:pPr lvl="1"/>
            <a:r>
              <a:rPr lang="en-US" altLang="ko-KR" sz="2400" dirty="0"/>
              <a:t>&lt;</a:t>
            </a:r>
            <a:r>
              <a:rPr lang="en-US" altLang="ko-KR" sz="2400" dirty="0" err="1"/>
              <a:t>selty</a:t>
            </a:r>
            <a:r>
              <a:rPr lang="en-US" altLang="ko-KR" sz="2400" dirty="0"/>
              <a:t>&gt; is either i1 or {&lt;N x i1&gt;}</a:t>
            </a:r>
          </a:p>
          <a:p>
            <a:pPr lvl="1"/>
            <a:r>
              <a:rPr lang="en-US" altLang="ko-KR" sz="2400" dirty="0"/>
              <a:t>Ex&gt; %X = select i1 true, i8 17, i8 42          ; yields i8:17</a:t>
            </a:r>
          </a:p>
          <a:p>
            <a:pPr lvl="1"/>
            <a:endParaRPr lang="en-US" altLang="ko-KR" sz="2400" dirty="0"/>
          </a:p>
          <a:p>
            <a:r>
              <a:rPr lang="en-US" altLang="ko-KR" sz="2800" dirty="0"/>
              <a:t>The ‘select‘ instruction is used to choose one value based on a condition, </a:t>
            </a:r>
            <a:r>
              <a:rPr lang="en-US" altLang="ko-KR" sz="2800" u="sng" dirty="0"/>
              <a:t>without IR-level branching</a:t>
            </a:r>
            <a:r>
              <a:rPr lang="en-US" altLang="ko-KR" sz="2800" dirty="0"/>
              <a:t>.</a:t>
            </a:r>
          </a:p>
          <a:p>
            <a:pPr lvl="1"/>
            <a:r>
              <a:rPr lang="en-US" altLang="ko-KR" sz="2400" dirty="0"/>
              <a:t>If &lt;</a:t>
            </a:r>
            <a:r>
              <a:rPr lang="en-US" altLang="ko-KR" sz="2400" dirty="0" err="1"/>
              <a:t>cond</a:t>
            </a:r>
            <a:r>
              <a:rPr lang="en-US" altLang="ko-KR" sz="2400" dirty="0"/>
              <a:t>&gt; ==1, the instruction returns the first value argument; the second value argument otherwise</a:t>
            </a:r>
          </a:p>
          <a:p>
            <a:pPr lvl="1"/>
            <a:r>
              <a:rPr lang="en-US" altLang="ko-KR" sz="2400" dirty="0"/>
              <a:t>If the condition is a vector of i1, then the value arguments must be vectors of the same size, and the selection is done element by element.</a:t>
            </a:r>
          </a:p>
          <a:p>
            <a:pPr lvl="1"/>
            <a:r>
              <a:rPr lang="en-US" altLang="ko-KR" sz="2400" dirty="0"/>
              <a:t>If the condition is an i1 and the value arguments are vectors of the same size, then an entire vector is selected.</a:t>
            </a:r>
          </a:p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514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926976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Function Call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1340768"/>
            <a:ext cx="9036496" cy="2548880"/>
          </a:xfrm>
        </p:spPr>
        <p:txBody>
          <a:bodyPr>
            <a:normAutofit/>
          </a:bodyPr>
          <a:lstStyle/>
          <a:p>
            <a:r>
              <a:rPr lang="en-US" altLang="ko-KR" sz="19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&lt;res&gt; = </a:t>
            </a:r>
            <a:r>
              <a:rPr lang="en-US" altLang="ko-KR" sz="19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 &lt;ResType&gt; [&lt;FunType&gt;] @&lt;FunName&gt;([arg list])</a:t>
            </a:r>
            <a:endParaRPr lang="en-US" altLang="ko-KR" sz="1900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&lt;ResType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ko-KR" sz="2000"/>
              <a:t>: </a:t>
            </a:r>
            <a:r>
              <a:rPr lang="en-US" altLang="ko-KR" sz="2000" dirty="0"/>
              <a:t>the type of the call return value</a:t>
            </a:r>
          </a:p>
          <a:p>
            <a:pPr lvl="1"/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&lt;FunType&gt;</a:t>
            </a:r>
            <a:r>
              <a:rPr lang="en-US" altLang="ko-KR" sz="2000"/>
              <a:t>: </a:t>
            </a:r>
            <a:r>
              <a:rPr lang="en-US" altLang="ko-KR" sz="2000" dirty="0"/>
              <a:t>the signature of the pointer to the target function (</a:t>
            </a:r>
            <a:r>
              <a:rPr lang="en-US" altLang="ko-KR" sz="2000"/>
              <a:t>optional)</a:t>
            </a:r>
          </a:p>
          <a:p>
            <a:pPr lvl="1"/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@&lt;FunName&gt;</a:t>
            </a:r>
            <a:r>
              <a:rPr lang="en-US" altLang="ko-KR" sz="2000"/>
              <a:t>: an LLVM value containing a pointer to a target function</a:t>
            </a:r>
            <a:endParaRPr lang="en-US" altLang="ko-KR" sz="2000" dirty="0"/>
          </a:p>
          <a:p>
            <a:pPr lvl="1"/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[arg list]</a:t>
            </a:r>
            <a:r>
              <a:rPr lang="en-US" altLang="ko-KR" sz="2000"/>
              <a:t>: argument list whose types match the function signature</a:t>
            </a:r>
          </a:p>
          <a:p>
            <a:pPr lvl="1"/>
            <a:endParaRPr lang="en-US" altLang="ko-KR" sz="1100"/>
          </a:p>
          <a:p>
            <a:r>
              <a:rPr lang="en-US" altLang="ko-KR" sz="2400"/>
              <a:t>Examples</a:t>
            </a:r>
            <a:r>
              <a:rPr lang="en-US" altLang="ko-KR" sz="2400" dirty="0"/>
              <a:t>:</a:t>
            </a:r>
            <a:endParaRPr lang="ko-KR" altLang="en-US" sz="24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67544" y="4170566"/>
            <a:ext cx="3744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(“%d”, abs(x));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11960" y="3924052"/>
            <a:ext cx="4680520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11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@.str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constant [3 x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i8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c”%d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\00”</a:t>
            </a:r>
          </a:p>
          <a:p>
            <a:endParaRPr lang="en-US" altLang="ko-KR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12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13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abs_x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@abs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altLang="ko-KR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14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%1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...) </a:t>
            </a:r>
            <a:b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@.str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abs_x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9" name="오른쪽 화살표 8"/>
          <p:cNvSpPr/>
          <p:nvPr/>
        </p:nvSpPr>
        <p:spPr>
          <a:xfrm>
            <a:off x="3602261" y="4077072"/>
            <a:ext cx="609699" cy="535596"/>
          </a:xfrm>
          <a:prstGeom prst="rightArrow">
            <a:avLst>
              <a:gd name="adj1" fmla="val 50000"/>
              <a:gd name="adj2" fmla="val 71341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21000">
                <a:schemeClr val="accent1">
                  <a:tint val="44500"/>
                  <a:satMod val="160000"/>
                </a:schemeClr>
              </a:gs>
              <a:gs pos="9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055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926976"/>
          </a:xfrm>
        </p:spPr>
        <p:txBody>
          <a:bodyPr>
            <a:normAutofit/>
          </a:bodyPr>
          <a:lstStyle/>
          <a:p>
            <a:r>
              <a:rPr lang="en-US" altLang="ko-KR" sz="3600"/>
              <a:t>Function Declaration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34262"/>
            <a:ext cx="8579296" cy="2548880"/>
          </a:xfrm>
        </p:spPr>
        <p:txBody>
          <a:bodyPr>
            <a:normAutofit/>
          </a:bodyPr>
          <a:lstStyle/>
          <a:p>
            <a:r>
              <a:rPr lang="en-US" altLang="ko-KR" sz="2000" b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 &lt;ResType&gt; @&lt;FunName&gt;([arg list])  </a:t>
            </a:r>
            <a:endParaRPr lang="en-US" altLang="ko-KR" sz="2400" b="1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&lt;ResType&gt;</a:t>
            </a:r>
            <a:r>
              <a:rPr lang="en-US" altLang="ko-KR" sz="2000"/>
              <a:t>: </a:t>
            </a:r>
            <a:r>
              <a:rPr lang="en-US" altLang="ko-KR" sz="2000" dirty="0"/>
              <a:t>the type of the call return value</a:t>
            </a:r>
          </a:p>
          <a:p>
            <a:pPr lvl="1"/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@&lt;FunName&gt;</a:t>
            </a:r>
            <a:r>
              <a:rPr lang="en-US" altLang="ko-KR" sz="2000"/>
              <a:t>: </a:t>
            </a:r>
            <a:r>
              <a:rPr lang="en-US" altLang="ko-KR" sz="2000" dirty="0"/>
              <a:t>an LLVM value containing a pointer to a </a:t>
            </a:r>
            <a:r>
              <a:rPr lang="en-US" altLang="ko-KR" sz="2000"/>
              <a:t>target function</a:t>
            </a:r>
          </a:p>
          <a:p>
            <a:pPr lvl="1"/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[arg list]</a:t>
            </a:r>
            <a:r>
              <a:rPr lang="en-US" altLang="ko-KR" sz="2000"/>
              <a:t>: argument list whose types match the function signature</a:t>
            </a:r>
          </a:p>
          <a:p>
            <a:pPr lvl="1"/>
            <a:endParaRPr lang="en-US" altLang="ko-KR" sz="1100" dirty="0"/>
          </a:p>
          <a:p>
            <a:r>
              <a:rPr lang="en-US" altLang="ko-KR" sz="2400" dirty="0"/>
              <a:t>Examples:</a:t>
            </a:r>
            <a:endParaRPr lang="ko-KR" altLang="en-US" sz="24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67544" y="4170566"/>
            <a:ext cx="3744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(char *,...)  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63480" y="4183911"/>
            <a:ext cx="4680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i32 @printf(ptr, ...)</a:t>
            </a:r>
            <a:r>
              <a:rPr lang="en-US" altLang="ko-KR" sz="16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3602261" y="4077072"/>
            <a:ext cx="609699" cy="535596"/>
          </a:xfrm>
          <a:prstGeom prst="rightArrow">
            <a:avLst>
              <a:gd name="adj1" fmla="val 50000"/>
              <a:gd name="adj2" fmla="val 71341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21000">
                <a:schemeClr val="accent1">
                  <a:tint val="44500"/>
                  <a:satMod val="160000"/>
                </a:schemeClr>
              </a:gs>
              <a:gs pos="9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4054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0226" y="180307"/>
            <a:ext cx="3754760" cy="1143000"/>
          </a:xfrm>
        </p:spPr>
        <p:txBody>
          <a:bodyPr>
            <a:normAutofit/>
          </a:bodyPr>
          <a:lstStyle/>
          <a:p>
            <a:r>
              <a:rPr lang="en-US" altLang="ko-KR" sz="3600"/>
              <a:t>A Simple </a:t>
            </a:r>
            <a:r>
              <a:rPr lang="en-US" altLang="ko-KR" sz="3600" dirty="0"/>
              <a:t>Example</a:t>
            </a:r>
            <a:endParaRPr lang="ko-KR" altLang="en-US" sz="36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5496" y="1574790"/>
            <a:ext cx="39794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  1 int sum(int x) {</a:t>
            </a:r>
          </a:p>
          <a:p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  2   int i, sum=0;</a:t>
            </a:r>
          </a:p>
          <a:p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  3   for (i=1; i &lt;=x; i++)</a:t>
            </a:r>
          </a:p>
          <a:p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  4     sum += i;</a:t>
            </a:r>
          </a:p>
          <a:p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  5   return sum;</a:t>
            </a:r>
          </a:p>
          <a:p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  6 }</a:t>
            </a:r>
          </a:p>
          <a:p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  7</a:t>
            </a:r>
          </a:p>
          <a:p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  8 int main() {</a:t>
            </a:r>
          </a:p>
          <a:p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  9   printf("%d\n",sum(4));</a:t>
            </a:r>
          </a:p>
          <a:p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 10 }</a:t>
            </a: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39952" y="136525"/>
            <a:ext cx="5004048" cy="674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1 declare i32 @printf(ptr, ...)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2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3 @.str = global [4 x i8]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c"%d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\0A\00"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4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5 define i32 @sum(i32 %x) {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6 entry: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7   %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x.addr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i32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8   %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i32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9   %sum =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i32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10   store i32 %x,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x.addr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11   store i32 0,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%sum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12   store i32 1,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13 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label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for.cond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14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15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for.cond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 ; preds = %for.inc, %entry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16   %0 = load i32,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17   %1 = load i32,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x.addr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18   %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icmp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sle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i32 %0, %1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19 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i1 %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label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for.body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label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for.end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20 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21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for.body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  ; preds =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for.cond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22   %2 = load i32,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23   %3 = load i32,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%sum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24   %add = add i32 %3, %2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25   store i32 %add,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%sum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26 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label %for.inc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27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28 for.inc:   ; preds =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for.body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29   %4 = load i32,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30   %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add i32 %4, 1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31   store i32 %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32 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label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for.cond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33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34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for.end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  ; preds =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for.cond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35   %5 = load i32,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%sum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36   ret i32 %5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37 }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38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39 define i32 @main() {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40   %sum = call i32 @sum(i32 4)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41   %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 call i32 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...) @printf(@.str, i32 %sum)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42   ret i32 0</a:t>
            </a:r>
          </a:p>
          <a:p>
            <a:pPr>
              <a:lnSpc>
                <a:spcPct val="80000"/>
              </a:lnSpc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43 }</a:t>
            </a:r>
            <a:endParaRPr lang="ko-KR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3265959" y="2738153"/>
            <a:ext cx="811510" cy="535596"/>
          </a:xfrm>
          <a:prstGeom prst="rightArrow">
            <a:avLst>
              <a:gd name="adj1" fmla="val 50000"/>
              <a:gd name="adj2" fmla="val 71341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21000">
                <a:schemeClr val="accent1">
                  <a:tint val="44500"/>
                  <a:satMod val="160000"/>
                </a:schemeClr>
              </a:gs>
              <a:gs pos="9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43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Aggregate Types and Function Type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6486" y="1600200"/>
            <a:ext cx="8660010" cy="4525963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Array: </a:t>
            </a:r>
            <a:r>
              <a:rPr lang="en-US" altLang="ko-KR" sz="22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[&lt;# of elements&gt; x &lt;type&gt;] </a:t>
            </a:r>
          </a:p>
          <a:p>
            <a:pPr lvl="1"/>
            <a:r>
              <a:rPr lang="en-US" altLang="ko-KR" sz="2000" dirty="0"/>
              <a:t>Single dimensional array ex: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[40 x i32]</a:t>
            </a:r>
            <a:r>
              <a:rPr lang="en-US" altLang="ko-KR" sz="1800" dirty="0">
                <a:cs typeface="Courier New" panose="02070309020205020404" pitchFamily="49" charset="0"/>
              </a:rPr>
              <a:t>,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[4 x i8]</a:t>
            </a:r>
          </a:p>
          <a:p>
            <a:pPr lvl="1"/>
            <a:r>
              <a:rPr lang="en-US" altLang="ko-KR" sz="2000" dirty="0"/>
              <a:t>Multi dimensional array ex: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[3 x [4 x i8]]</a:t>
            </a:r>
            <a:r>
              <a:rPr lang="en-US" altLang="ko-KR" sz="1800" dirty="0">
                <a:cs typeface="Courier New" panose="02070309020205020404" pitchFamily="49" charset="0"/>
              </a:rPr>
              <a:t>,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[12 x [10 x float]]</a:t>
            </a:r>
            <a:endParaRPr lang="en-US" altLang="ko-K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altLang="ko-KR" sz="2400" dirty="0"/>
          </a:p>
          <a:p>
            <a:r>
              <a:rPr lang="en-US" altLang="ko-KR" sz="2400" dirty="0"/>
              <a:t>Structure: </a:t>
            </a:r>
            <a:r>
              <a:rPr lang="en-US" altLang="ko-KR" sz="22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{&lt;a list of types&gt;}</a:t>
            </a:r>
          </a:p>
          <a:p>
            <a:pPr lvl="1"/>
            <a:r>
              <a:rPr lang="en-US" altLang="ko-KR" sz="2000" dirty="0"/>
              <a:t>E.g.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type{ i32, i32, i32 }</a:t>
            </a:r>
            <a:r>
              <a:rPr lang="en-US" altLang="ko-KR" sz="2000" dirty="0"/>
              <a:t>,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type{ i8, i32 }</a:t>
            </a:r>
          </a:p>
          <a:p>
            <a:pPr lvl="1"/>
            <a:endParaRPr lang="en-US" altLang="ko-K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400" dirty="0">
                <a:cs typeface="Courier New" panose="02070309020205020404" pitchFamily="49" charset="0"/>
              </a:rPr>
              <a:t>Function:</a:t>
            </a:r>
            <a:r>
              <a:rPr lang="en-US" altLang="ko-KR" sz="2200" b="1" dirty="0">
                <a:solidFill>
                  <a:srgbClr val="0033CC"/>
                </a:solidFill>
                <a:cs typeface="Courier New" panose="02070309020205020404" pitchFamily="49" charset="0"/>
              </a:rPr>
              <a:t> </a:t>
            </a:r>
            <a:r>
              <a:rPr lang="en-US" altLang="ko-KR" sz="22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&lt;return type&gt; (a list of parameter types)</a:t>
            </a:r>
          </a:p>
          <a:p>
            <a:pPr lvl="1"/>
            <a:r>
              <a:rPr lang="en-US" altLang="ko-KR" sz="2000" dirty="0">
                <a:cs typeface="Courier New" panose="02070309020205020404" pitchFamily="49" charset="0"/>
              </a:rPr>
              <a:t>E.g.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i32 (i32)</a:t>
            </a:r>
            <a:r>
              <a:rPr lang="en-US" altLang="ko-KR" sz="2000" dirty="0">
                <a:cs typeface="Courier New" panose="02070309020205020404" pitchFamily="49" charset="0"/>
              </a:rPr>
              <a:t>,  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float (i16,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ko-KR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C4F5-BB8F-4185-A285-1182BDFFE680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4977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3600" dirty="0"/>
              <a:t> Instruction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9512" y="1556792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A memory in an aggregate type variable can be accessed by </a:t>
            </a:r>
            <a:r>
              <a:rPr lang="en-US" altLang="ko-KR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sz="2400" dirty="0"/>
              <a:t>/</a:t>
            </a:r>
            <a:r>
              <a:rPr lang="en-US" altLang="ko-KR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altLang="ko-KR" sz="2400" dirty="0"/>
              <a:t> instruction and </a:t>
            </a:r>
            <a:r>
              <a:rPr lang="en-US" altLang="ko-KR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2400" dirty="0"/>
              <a:t> instruction that obtains the pointer to the element.</a:t>
            </a:r>
          </a:p>
          <a:p>
            <a:endParaRPr lang="en-US" altLang="ko-KR" sz="1600" dirty="0"/>
          </a:p>
          <a:p>
            <a:r>
              <a:rPr lang="en-US" altLang="ko-KR" sz="2400" dirty="0"/>
              <a:t>Syntax: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&lt;res&gt; = </a:t>
            </a:r>
            <a:r>
              <a:rPr lang="en-US" altLang="ko-KR" sz="20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ko-KR" sz="20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pty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&gt;, </a:t>
            </a:r>
            <a:r>
              <a:rPr lang="en-US" altLang="ko-KR" sz="20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ko-KR" sz="20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ptrval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&gt;{,&lt;t&gt; &lt;</a:t>
            </a:r>
            <a:r>
              <a:rPr lang="en-US" altLang="ko-KR" sz="2000" b="1" dirty="0" err="1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altLang="ko-KR" sz="20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&gt;}*</a:t>
            </a:r>
          </a:p>
          <a:p>
            <a:pPr lvl="2"/>
            <a:r>
              <a:rPr lang="en-US" altLang="ko-KR" sz="2000" dirty="0">
                <a:cs typeface="Courier New" panose="02070309020205020404" pitchFamily="49" charset="0"/>
              </a:rPr>
              <a:t>res: the target register</a:t>
            </a:r>
          </a:p>
          <a:p>
            <a:pPr lvl="2"/>
            <a:r>
              <a:rPr lang="en-US" altLang="ko-KR" sz="2000" dirty="0" err="1">
                <a:cs typeface="Courier New" panose="02070309020205020404" pitchFamily="49" charset="0"/>
              </a:rPr>
              <a:t>pty</a:t>
            </a:r>
            <a:r>
              <a:rPr lang="en-US" altLang="ko-KR" sz="2000" dirty="0">
                <a:cs typeface="Courier New" panose="02070309020205020404" pitchFamily="49" charset="0"/>
              </a:rPr>
              <a:t>: the register that defines the aggregate type</a:t>
            </a:r>
          </a:p>
          <a:p>
            <a:pPr lvl="2"/>
            <a:r>
              <a:rPr lang="en-US" altLang="ko-KR" sz="2000" dirty="0" err="1">
                <a:cs typeface="Courier New" panose="02070309020205020404" pitchFamily="49" charset="0"/>
              </a:rPr>
              <a:t>ptrval</a:t>
            </a:r>
            <a:r>
              <a:rPr lang="en-US" altLang="ko-KR" sz="2000" dirty="0">
                <a:cs typeface="Courier New" panose="02070309020205020404" pitchFamily="49" charset="0"/>
              </a:rPr>
              <a:t>: the register that points to the data variable</a:t>
            </a:r>
          </a:p>
          <a:p>
            <a:pPr lvl="2"/>
            <a:r>
              <a:rPr lang="en-US" altLang="ko-KR" sz="2000" dirty="0">
                <a:cs typeface="Courier New" panose="02070309020205020404" pitchFamily="49" charset="0"/>
              </a:rPr>
              <a:t>t: the type of index</a:t>
            </a:r>
          </a:p>
          <a:p>
            <a:pPr lvl="2"/>
            <a:r>
              <a:rPr lang="en-US" altLang="ko-KR" sz="2000" dirty="0" err="1">
                <a:cs typeface="Courier New" panose="02070309020205020404" pitchFamily="49" charset="0"/>
              </a:rPr>
              <a:t>idx</a:t>
            </a:r>
            <a:r>
              <a:rPr lang="en-US" altLang="ko-KR" sz="2000" dirty="0">
                <a:cs typeface="Courier New" panose="02070309020205020404" pitchFamily="49" charset="0"/>
              </a:rPr>
              <a:t>: the index value</a:t>
            </a:r>
          </a:p>
          <a:p>
            <a:pPr lvl="2"/>
            <a:endParaRPr lang="ko-KR" altLang="en-US" sz="2000" dirty="0">
              <a:cs typeface="Courier New" panose="02070309020205020404" pitchFamily="49" charset="0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016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Aggregate Type Example 1 (1/2)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6378" y="1647850"/>
            <a:ext cx="3585542" cy="355699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pair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   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first;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3   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second;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4  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5 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6  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7  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pair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8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a.first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[1];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spcBef>
                <a:spcPts val="0"/>
              </a:spcBef>
              <a:buNone/>
            </a:pP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211960" y="1649387"/>
            <a:ext cx="4665662" cy="4373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8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struct.pair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define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@main() {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entry: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8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[10 x 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%a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struct.pair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8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arrayidx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endParaRPr lang="en-US" altLang="ko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[10 x i32], </a:t>
            </a:r>
            <a:r>
              <a:rPr lang="en-US" altLang="ko-KR" sz="1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8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i64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0, 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i64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b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8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arrayidx</a:t>
            </a:r>
            <a:b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ko-KR" sz="1200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%first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8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struct.pair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%a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0, 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store 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%0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%first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3870970" y="1654720"/>
            <a:ext cx="720080" cy="4373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b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9" name="오른쪽 화살표 8"/>
          <p:cNvSpPr/>
          <p:nvPr/>
        </p:nvSpPr>
        <p:spPr>
          <a:xfrm>
            <a:off x="3059832" y="1772816"/>
            <a:ext cx="811510" cy="535596"/>
          </a:xfrm>
          <a:prstGeom prst="rightArrow">
            <a:avLst>
              <a:gd name="adj1" fmla="val 50000"/>
              <a:gd name="adj2" fmla="val 71341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21000">
                <a:schemeClr val="accent1">
                  <a:tint val="44500"/>
                  <a:satMod val="160000"/>
                </a:schemeClr>
              </a:gs>
              <a:gs pos="9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51520" y="1647850"/>
            <a:ext cx="2808312" cy="1205086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924768" y="1589062"/>
            <a:ext cx="4975095" cy="422376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51520" y="3012819"/>
            <a:ext cx="2808312" cy="317337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931311" y="2222116"/>
            <a:ext cx="4975095" cy="562183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51520" y="3284984"/>
            <a:ext cx="2808312" cy="317337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931310" y="2743424"/>
            <a:ext cx="4975095" cy="317337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931311" y="3022403"/>
            <a:ext cx="4975095" cy="317337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931311" y="3573016"/>
            <a:ext cx="4975095" cy="1330858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931310" y="5085183"/>
            <a:ext cx="4975095" cy="1330857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51520" y="3573016"/>
            <a:ext cx="2808312" cy="317337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36210" y="4119775"/>
            <a:ext cx="1310098" cy="317337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2267744" y="4123202"/>
            <a:ext cx="984295" cy="317337"/>
          </a:xfrm>
          <a:prstGeom prst="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25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Aggregate Type Example 1 (2/2)</a:t>
            </a:r>
            <a:endParaRPr lang="ko-KR" altLang="en-US" sz="3600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32048" y="1556792"/>
            <a:ext cx="8460432" cy="23762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%first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8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struct.pair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%a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800" b="1" u="sng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8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ko-KR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2000" dirty="0"/>
              <a:t>1. The first operand of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>
                <a:cs typeface="Courier New" panose="02070309020205020404" pitchFamily="49" charset="0"/>
              </a:rPr>
              <a:t>(e.g.,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%a</a:t>
            </a:r>
            <a:r>
              <a:rPr lang="en-US" altLang="ko-KR" sz="2000" dirty="0">
                <a:cs typeface="Courier New" panose="02070309020205020404" pitchFamily="49" charset="0"/>
              </a:rPr>
              <a:t>)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/>
              <a:t>is a pointer to a data structure.</a:t>
            </a:r>
          </a:p>
          <a:p>
            <a:pPr marL="0" indent="0">
              <a:buNone/>
            </a:pPr>
            <a:r>
              <a:rPr lang="en-US" altLang="ko-KR" sz="2000" dirty="0"/>
              <a:t>2. An element of an aggregate data structure must be accessed by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2000" dirty="0"/>
              <a:t> with a pointer (e.g.,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%a</a:t>
            </a:r>
            <a:r>
              <a:rPr lang="en-US" altLang="ko-KR" sz="2000" dirty="0"/>
              <a:t>) and </a:t>
            </a:r>
            <a:r>
              <a:rPr lang="en-US" altLang="ko-KR" sz="2000" u="sng" dirty="0"/>
              <a:t>an offset index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en-US" altLang="ko-KR" sz="2000" dirty="0"/>
              <a:t> </a:t>
            </a:r>
            <a:r>
              <a:rPr lang="en-US" altLang="ko-KR" sz="1800" dirty="0"/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a.first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altLang="ko-KR" sz="1800" dirty="0"/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(&amp;a)</a:t>
            </a:r>
            <a:r>
              <a:rPr lang="en-US" altLang="ko-KR" sz="18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.first</a:t>
            </a:r>
            <a:r>
              <a:rPr lang="en-US" altLang="ko-KR" sz="1800" dirty="0">
                <a:ea typeface="바탕" panose="02030600000101010101" pitchFamily="18" charset="-127"/>
                <a:cs typeface="Courier New" panose="02070309020205020404" pitchFamily="49" charset="0"/>
              </a:rPr>
              <a:t>, and/or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(&amp;a)-&gt;first == (&amp;a)</a:t>
            </a:r>
            <a:r>
              <a:rPr lang="en-US" altLang="ko-KR" sz="18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.first)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ko-K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내용 개체 틀 2"/>
          <p:cNvSpPr txBox="1">
            <a:spLocks/>
          </p:cNvSpPr>
          <p:nvPr/>
        </p:nvSpPr>
        <p:spPr>
          <a:xfrm>
            <a:off x="432048" y="4077072"/>
            <a:ext cx="2880320" cy="26444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point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point* p;};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point s, s1;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s.p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=&amp;s1; // (&amp;s)[0].p=&amp;s1;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s.p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)-&gt;x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내용 개체 틀 2"/>
          <p:cNvSpPr txBox="1">
            <a:spLocks/>
          </p:cNvSpPr>
          <p:nvPr/>
        </p:nvSpPr>
        <p:spPr>
          <a:xfrm>
            <a:off x="3419872" y="4077072"/>
            <a:ext cx="5472608" cy="26444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struct.point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= type { i32,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define i32 @main() #0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entry: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%s =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struct.point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align 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%s1 =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struct.point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align 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//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s.p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=&amp;s1;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%p =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%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struct.point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%s, i32 0, i32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store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%s1,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%p, align 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// (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s.p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)-&gt;x =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%p1 =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%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struct.point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%s, i32 0, i32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%0 = load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%p1, align 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%x =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%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struct.point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%0, i32 0, i32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store i32 0, </a:t>
            </a:r>
            <a:r>
              <a:rPr lang="en-US" altLang="ko-KR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%x, align 4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ret i32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670C58-98D1-15A6-32B4-7F52F6CAF123}"/>
              </a:ext>
            </a:extLst>
          </p:cNvPr>
          <p:cNvSpPr/>
          <p:nvPr/>
        </p:nvSpPr>
        <p:spPr>
          <a:xfrm>
            <a:off x="3635896" y="4941168"/>
            <a:ext cx="4536504" cy="46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43C75C-371D-C4A5-1D5F-7AB85B2321F7}"/>
              </a:ext>
            </a:extLst>
          </p:cNvPr>
          <p:cNvSpPr/>
          <p:nvPr/>
        </p:nvSpPr>
        <p:spPr>
          <a:xfrm>
            <a:off x="3635896" y="5409168"/>
            <a:ext cx="4536504" cy="82814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6805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dirty="0"/>
              <a:t>Aggregate Type Example 2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4806" y="5573744"/>
            <a:ext cx="1433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 pointer </a:t>
            </a:r>
            <a:br>
              <a:rPr lang="en-US" altLang="ko-KR" dirty="0"/>
            </a:br>
            <a:r>
              <a:rPr lang="en-US" altLang="ko-KR" dirty="0"/>
              <a:t>parameter s</a:t>
            </a:r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2961441" y="5285712"/>
            <a:ext cx="864096" cy="3970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>
            <a:endCxn id="5" idx="1"/>
          </p:cNvCxnSpPr>
          <p:nvPr/>
        </p:nvCxnSpPr>
        <p:spPr>
          <a:xfrm flipV="1">
            <a:off x="2097345" y="5484226"/>
            <a:ext cx="864096" cy="377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/>
          <p:cNvSpPr/>
          <p:nvPr/>
        </p:nvSpPr>
        <p:spPr>
          <a:xfrm>
            <a:off x="2961441" y="6149808"/>
            <a:ext cx="864096" cy="576064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endCxn id="9" idx="1"/>
          </p:cNvCxnSpPr>
          <p:nvPr/>
        </p:nvCxnSpPr>
        <p:spPr>
          <a:xfrm>
            <a:off x="2105701" y="5994949"/>
            <a:ext cx="855740" cy="442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20351915">
            <a:off x="1982474" y="5460505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index 0</a:t>
            </a:r>
            <a:endParaRPr lang="ko-KR" altLang="en-US" sz="1400"/>
          </a:p>
        </p:txBody>
      </p:sp>
      <p:sp>
        <p:nvSpPr>
          <p:cNvPr id="14" name="TextBox 13"/>
          <p:cNvSpPr txBox="1"/>
          <p:nvPr/>
        </p:nvSpPr>
        <p:spPr>
          <a:xfrm>
            <a:off x="2889433" y="4988388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(s)[0]</a:t>
            </a: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889433" y="5780476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(s)[1]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 rot="1282682">
            <a:off x="2054510" y="6142032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index 1</a:t>
            </a:r>
            <a:endParaRPr lang="ko-KR" altLang="en-US" sz="1400"/>
          </a:p>
        </p:txBody>
      </p:sp>
      <p:sp>
        <p:nvSpPr>
          <p:cNvPr id="21" name="직사각형 20"/>
          <p:cNvSpPr/>
          <p:nvPr/>
        </p:nvSpPr>
        <p:spPr>
          <a:xfrm>
            <a:off x="3061070" y="6221815"/>
            <a:ext cx="675693" cy="39506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3138504" y="6304667"/>
            <a:ext cx="498630" cy="21447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6" name="직선 연결선 25"/>
          <p:cNvCxnSpPr>
            <a:stCxn id="22" idx="1"/>
            <a:endCxn id="22" idx="3"/>
          </p:cNvCxnSpPr>
          <p:nvPr/>
        </p:nvCxnSpPr>
        <p:spPr>
          <a:xfrm>
            <a:off x="3138504" y="6411904"/>
            <a:ext cx="49863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stCxn id="22" idx="0"/>
            <a:endCxn id="22" idx="2"/>
          </p:cNvCxnSpPr>
          <p:nvPr/>
        </p:nvCxnSpPr>
        <p:spPr>
          <a:xfrm>
            <a:off x="3387819" y="6304667"/>
            <a:ext cx="0" cy="2144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/>
          <p:cNvSpPr/>
          <p:nvPr/>
        </p:nvSpPr>
        <p:spPr>
          <a:xfrm>
            <a:off x="3451638" y="6401916"/>
            <a:ext cx="79113" cy="8269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C3A33-227E-FDE9-79A6-4A33DE71539B}"/>
              </a:ext>
            </a:extLst>
          </p:cNvPr>
          <p:cNvSpPr txBox="1"/>
          <p:nvPr/>
        </p:nvSpPr>
        <p:spPr>
          <a:xfrm>
            <a:off x="4355976" y="1150576"/>
            <a:ext cx="47465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struct.RT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type {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i8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[10 x [20 x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]],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i8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%struct.ST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type {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struct.RT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define </a:t>
            </a:r>
            <a:r>
              <a:rPr lang="en-US" altLang="ko-KR" sz="16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@foo(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%s)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entry: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%0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// s[1]</a:t>
            </a:r>
            <a:b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%struct.ST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%s,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i64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%1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// s[1].Z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%struct.ST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%0,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0,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%2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// s[1].Z.B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struct.RT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%1,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0,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%3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//s[1].Z.B[5][13]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[10 x [20 x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i32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%2,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i64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0, </a:t>
            </a:r>
          </a:p>
          <a:p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i64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5,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i64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13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ret </a:t>
            </a:r>
            <a:r>
              <a:rPr lang="en-US" altLang="ko-KR" sz="16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9F7566-6CFD-670B-3133-179D5EAADF4A}"/>
              </a:ext>
            </a:extLst>
          </p:cNvPr>
          <p:cNvSpPr txBox="1"/>
          <p:nvPr/>
        </p:nvSpPr>
        <p:spPr>
          <a:xfrm>
            <a:off x="4139952" y="1178349"/>
            <a:ext cx="5814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C71F6BD-A4D3-8477-FC61-74225877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21088" y="1532759"/>
            <a:ext cx="3623510" cy="36557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9FE74B-B15E-026B-05E3-D6C02F56BD44}"/>
              </a:ext>
            </a:extLst>
          </p:cNvPr>
          <p:cNvSpPr txBox="1"/>
          <p:nvPr/>
        </p:nvSpPr>
        <p:spPr>
          <a:xfrm>
            <a:off x="611560" y="1243606"/>
            <a:ext cx="353312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RT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B[10][20];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ko-KR" sz="1600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RT Z;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 *s)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b="1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&amp;(s[1].Z.B[5][13]);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4D09A-21D3-6BA4-925C-CF81BE5C80A0}"/>
              </a:ext>
            </a:extLst>
          </p:cNvPr>
          <p:cNvSpPr txBox="1"/>
          <p:nvPr/>
        </p:nvSpPr>
        <p:spPr>
          <a:xfrm>
            <a:off x="179512" y="1243606"/>
            <a:ext cx="521757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pPr marL="0" indent="0" algn="r">
              <a:spcBef>
                <a:spcPts val="0"/>
              </a:spcBef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589595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Aggregate Type Example 3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MyVar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global { [10 x i32]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%idx1=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{[10xi32]},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%MyVar,i64 0,i32 0,i64 1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%idx2=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{[10xi32]},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%MyVar,i64 1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idx1</a:t>
            </a:r>
            <a:r>
              <a:rPr lang="en-US" altLang="ko-KR" dirty="0"/>
              <a:t> computes the address of the 2</a:t>
            </a:r>
            <a:r>
              <a:rPr lang="en-US" altLang="ko-KR" baseline="30000" dirty="0"/>
              <a:t>nd</a:t>
            </a:r>
            <a:r>
              <a:rPr lang="en-US" altLang="ko-KR" dirty="0"/>
              <a:t> integer in the array that is in the structure in %</a:t>
            </a:r>
            <a:r>
              <a:rPr lang="en-US" altLang="ko-KR" dirty="0" err="1"/>
              <a:t>MyVar</a:t>
            </a:r>
            <a:r>
              <a:rPr lang="en-US" altLang="ko-KR" dirty="0"/>
              <a:t>, that is MyVar+4. </a:t>
            </a:r>
          </a:p>
          <a:p>
            <a:pPr lvl="1"/>
            <a:r>
              <a:rPr lang="en-US" altLang="ko-KR" dirty="0"/>
              <a:t>The type of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idx1</a:t>
            </a:r>
            <a:r>
              <a:rPr lang="en-US" altLang="ko-KR" dirty="0"/>
              <a:t> is i32*. 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idx2</a:t>
            </a:r>
            <a:r>
              <a:rPr lang="en-US" altLang="ko-KR" dirty="0"/>
              <a:t> computes the address of the next structure after %</a:t>
            </a:r>
            <a:r>
              <a:rPr lang="en-US" altLang="ko-KR" dirty="0" err="1"/>
              <a:t>MyVar</a:t>
            </a:r>
            <a:r>
              <a:rPr lang="en-US" altLang="ko-KR" dirty="0"/>
              <a:t>. The value of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idx2 </a:t>
            </a:r>
            <a:r>
              <a:rPr lang="en-US" altLang="ko-KR" dirty="0"/>
              <a:t>is </a:t>
            </a:r>
            <a:r>
              <a:rPr lang="en-US" altLang="ko-KR" dirty="0" err="1"/>
              <a:t>MyVar</a:t>
            </a:r>
            <a:r>
              <a:rPr lang="en-US" altLang="ko-KR" dirty="0"/>
              <a:t> + 40 because it indexes past the ten 4-byte integers in </a:t>
            </a:r>
            <a:r>
              <a:rPr lang="en-US" altLang="ko-KR" dirty="0" err="1"/>
              <a:t>MyVar</a:t>
            </a:r>
            <a:r>
              <a:rPr lang="en-US" altLang="ko-KR" dirty="0"/>
              <a:t>.  </a:t>
            </a:r>
          </a:p>
          <a:p>
            <a:pPr lvl="1"/>
            <a:r>
              <a:rPr lang="en-US" altLang="ko-KR" dirty="0"/>
              <a:t> The type of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idx2 </a:t>
            </a:r>
            <a:r>
              <a:rPr lang="en-US" altLang="ko-KR" dirty="0"/>
              <a:t>is { [10 x i32] }*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7767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Aggregate Type Example 4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MyVar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global { [10 x i32] }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%idx1=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{[10xi32]},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%MyVar,i64 1,i32 0,i64 0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%idx2=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{[10xi32]},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%MyVar,i64 1</a:t>
            </a:r>
          </a:p>
          <a:p>
            <a:r>
              <a:rPr lang="en-US" altLang="ko-KR" dirty="0"/>
              <a:t>The value of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%idx1</a:t>
            </a:r>
            <a:r>
              <a:rPr lang="en-US" altLang="ko-KR" dirty="0"/>
              <a:t> is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%MyVar</a:t>
            </a:r>
            <a:r>
              <a:rPr lang="en-US" altLang="ko-KR" dirty="0"/>
              <a:t>+40 </a:t>
            </a:r>
          </a:p>
          <a:p>
            <a:pPr lvl="1"/>
            <a:r>
              <a:rPr lang="en-US" altLang="ko-KR" dirty="0"/>
              <a:t>its type is i32*</a:t>
            </a:r>
          </a:p>
          <a:p>
            <a:r>
              <a:rPr lang="en-US" altLang="ko-KR" dirty="0"/>
              <a:t>The value of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%idx2</a:t>
            </a:r>
            <a:r>
              <a:rPr lang="en-US" altLang="ko-KR" dirty="0"/>
              <a:t> is also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%MyVar</a:t>
            </a:r>
            <a:r>
              <a:rPr lang="en-US" altLang="ko-KR" dirty="0"/>
              <a:t>+40 </a:t>
            </a:r>
          </a:p>
          <a:p>
            <a:pPr lvl="1"/>
            <a:r>
              <a:rPr lang="en-US" altLang="ko-KR" dirty="0"/>
              <a:t>but its type is { [10 x i32] }*.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A16-56DC-42C5-8299-62A03231F76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3431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Unaddressed Issues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423317"/>
            <a:ext cx="807524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Many options/attributes of instructions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Vector data type (SIMD style)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Exception handling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Object-oriented programming specific features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Concurrency issues</a:t>
            </a:r>
          </a:p>
          <a:p>
            <a:pPr lvl="1"/>
            <a:r>
              <a:rPr lang="en-US" altLang="ko-KR" sz="2000" dirty="0"/>
              <a:t>Memory model, synchronization, atomic instructions</a:t>
            </a:r>
          </a:p>
          <a:p>
            <a:pPr lvl="1"/>
            <a:endParaRPr lang="en-US" altLang="ko-KR" sz="2000" dirty="0"/>
          </a:p>
          <a:p>
            <a:pPr marL="0" lvl="1" indent="0">
              <a:buNone/>
            </a:pPr>
            <a:r>
              <a:rPr lang="en-US" altLang="ko-KR" sz="2000" dirty="0"/>
              <a:t>*</a:t>
            </a:r>
            <a:r>
              <a:rPr lang="en-US" altLang="ko-KR" sz="2000" i="1" dirty="0"/>
              <a:t> http://llvm.org/docs/LangRef.html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ADAD-AB32-46D0-B90F-5835826F9A25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Tutorial for LLVM Intermediate Representation 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C68-1C69-421E-B036-4DAA2329A567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926626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 n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ecture">
      <a:majorFont>
        <a:latin typeface="Arial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</Template>
  <TotalTime>1899</TotalTime>
  <Words>5465</Words>
  <Application>Microsoft Office PowerPoint</Application>
  <PresentationFormat>화면 슬라이드 쇼(4:3)</PresentationFormat>
  <Paragraphs>858</Paragraphs>
  <Slides>41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41</vt:i4>
      </vt:variant>
    </vt:vector>
  </HeadingPairs>
  <TitlesOfParts>
    <vt:vector size="50" baseType="lpstr">
      <vt:lpstr>맑은 고딕</vt:lpstr>
      <vt:lpstr>바탕</vt:lpstr>
      <vt:lpstr>Arial</vt:lpstr>
      <vt:lpstr>Calibri</vt:lpstr>
      <vt:lpstr>Cambria Math</vt:lpstr>
      <vt:lpstr>Courier New</vt:lpstr>
      <vt:lpstr>Times New Roman</vt:lpstr>
      <vt:lpstr>Lecture note</vt:lpstr>
      <vt:lpstr>Office Theme</vt:lpstr>
      <vt:lpstr>Tutorial for LLVM Intermediate Representation </vt:lpstr>
      <vt:lpstr>Motivation for Learning LLVM Low-level Language (i.e., Handling Intermediate Representation)</vt:lpstr>
      <vt:lpstr>LLVM is Professional Compiler</vt:lpstr>
      <vt:lpstr>LLVM Compiler Infrastructure (1/2)</vt:lpstr>
      <vt:lpstr>LLVM Compiler Infrastructure (2/2)</vt:lpstr>
      <vt:lpstr>LLVM IR as Analysis Target</vt:lpstr>
      <vt:lpstr>LLVM IR At a Glance</vt:lpstr>
      <vt:lpstr>Example</vt:lpstr>
      <vt:lpstr>Contents</vt:lpstr>
      <vt:lpstr>LLVM IR Architecture</vt:lpstr>
      <vt:lpstr>Static Single Assignment (1/2)</vt:lpstr>
      <vt:lpstr>Static Single Assignment (2/2)</vt:lpstr>
      <vt:lpstr>Data Representations</vt:lpstr>
      <vt:lpstr>Primitive Types</vt:lpstr>
      <vt:lpstr>Constants</vt:lpstr>
      <vt:lpstr>Registers</vt:lpstr>
      <vt:lpstr>Variables</vt:lpstr>
      <vt:lpstr>Load and Store Instructions</vt:lpstr>
      <vt:lpstr>Variable Example</vt:lpstr>
      <vt:lpstr>Integer Conversion (1/2)</vt:lpstr>
      <vt:lpstr>Integer Conversion (2/2)</vt:lpstr>
      <vt:lpstr>Other Conversions</vt:lpstr>
      <vt:lpstr>Computational Instructions</vt:lpstr>
      <vt:lpstr>Add Instruction</vt:lpstr>
      <vt:lpstr>Control Representation</vt:lpstr>
      <vt:lpstr>Label, Return, and Unconditional Branch</vt:lpstr>
      <vt:lpstr>Conditional Branch</vt:lpstr>
      <vt:lpstr>Switch</vt:lpstr>
      <vt:lpstr>PHI (Φ) instruction</vt:lpstr>
      <vt:lpstr>Select</vt:lpstr>
      <vt:lpstr>Function Call</vt:lpstr>
      <vt:lpstr>Function Declaration</vt:lpstr>
      <vt:lpstr>A Simple Example</vt:lpstr>
      <vt:lpstr>Aggregate Types and Function Type</vt:lpstr>
      <vt:lpstr>Getelementptr Instruction</vt:lpstr>
      <vt:lpstr>Aggregate Type Example 1 (1/2)</vt:lpstr>
      <vt:lpstr>Aggregate Type Example 1 (2/2)</vt:lpstr>
      <vt:lpstr>Aggregate Type Example 2</vt:lpstr>
      <vt:lpstr>Aggregate Type Example 3</vt:lpstr>
      <vt:lpstr>Aggregate Type Example 4</vt:lpstr>
      <vt:lpstr>Unaddressed 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hongshin</dc:creator>
  <cp:lastModifiedBy>moonzoo</cp:lastModifiedBy>
  <cp:revision>568</cp:revision>
  <cp:lastPrinted>2015-10-16T14:03:58Z</cp:lastPrinted>
  <dcterms:created xsi:type="dcterms:W3CDTF">2014-09-27T07:04:29Z</dcterms:created>
  <dcterms:modified xsi:type="dcterms:W3CDTF">2026-10-26T01:21:06Z</dcterms:modified>
</cp:coreProperties>
</file>