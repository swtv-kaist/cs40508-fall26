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23"/>
  </p:notesMasterIdLst>
  <p:sldIdLst>
    <p:sldId id="256" r:id="rId3"/>
    <p:sldId id="310" r:id="rId4"/>
    <p:sldId id="291" r:id="rId5"/>
    <p:sldId id="309" r:id="rId6"/>
    <p:sldId id="300" r:id="rId7"/>
    <p:sldId id="294" r:id="rId8"/>
    <p:sldId id="307" r:id="rId9"/>
    <p:sldId id="293" r:id="rId10"/>
    <p:sldId id="306" r:id="rId11"/>
    <p:sldId id="299" r:id="rId12"/>
    <p:sldId id="308" r:id="rId13"/>
    <p:sldId id="298" r:id="rId14"/>
    <p:sldId id="302" r:id="rId15"/>
    <p:sldId id="305" r:id="rId16"/>
    <p:sldId id="313" r:id="rId17"/>
    <p:sldId id="314" r:id="rId18"/>
    <p:sldId id="311" r:id="rId19"/>
    <p:sldId id="315" r:id="rId20"/>
    <p:sldId id="317" r:id="rId21"/>
    <p:sldId id="304" r:id="rId22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33CC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122" autoAdjust="0"/>
  </p:normalViewPr>
  <p:slideViewPr>
    <p:cSldViewPr showGuides="1">
      <p:cViewPr varScale="1">
        <p:scale>
          <a:sx n="88" d="100"/>
          <a:sy n="88" d="100"/>
        </p:scale>
        <p:origin x="82" y="221"/>
      </p:cViewPr>
      <p:guideLst>
        <p:guide orient="horz" pos="2251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FD2924-D280-4505-BAC6-AD9B19A15CC3}" type="datetimeFigureOut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20750" y="746125"/>
            <a:ext cx="49657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1" y="4721186"/>
            <a:ext cx="5445760" cy="447270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6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6"/>
            <a:ext cx="2949787" cy="49696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801D2-EBE6-42D3-BD0D-EFDB944223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64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PreservedAnalyses</a:t>
            </a:r>
            <a:r>
              <a:rPr lang="en-US" dirty="0"/>
              <a:t>::none() means this pass made heavy modifications, and no analyses are safe to keep.</a:t>
            </a:r>
            <a:br>
              <a:rPr lang="en-US" dirty="0"/>
            </a:br>
            <a:r>
              <a:rPr lang="en-US" dirty="0"/>
              <a:t>The pipeline will recompute any required analysis on demand.</a:t>
            </a:r>
          </a:p>
          <a:p>
            <a:endParaRPr lang="en-US" dirty="0"/>
          </a:p>
          <a:p>
            <a:r>
              <a:rPr lang="en-US" dirty="0"/>
              <a:t>You can specify some analysis are still valid, such as dominator tree or CFG.</a:t>
            </a:r>
          </a:p>
          <a:p>
            <a:r>
              <a:rPr lang="en-US" dirty="0"/>
              <a:t>Then, the pipeline won’t recompute dominator tree or CFG.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1625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M.getContext</a:t>
            </a:r>
            <a:r>
              <a:rPr lang="en-US" altLang="ko-KR" dirty="0"/>
              <a:t>()</a:t>
            </a:r>
            <a:r>
              <a:rPr lang="en-US" altLang="ko-KR" baseline="0" dirty="0"/>
              <a:t> to handle multiple instances of LLVM  (e.g., multithreaded LLVM pass)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073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Dyn_cast</a:t>
            </a:r>
            <a:r>
              <a:rPr lang="en-US" altLang="ko-KR" dirty="0"/>
              <a:t>&lt;xxx&gt;()</a:t>
            </a:r>
            <a:r>
              <a:rPr lang="en-US" altLang="ko-KR" baseline="0" dirty="0"/>
              <a:t> is a type casting statement in C++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9532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PreservedAnalyses</a:t>
            </a:r>
            <a:r>
              <a:rPr lang="en-US" altLang="ko-KR" dirty="0"/>
              <a:t>::none() means this pass made heavy modifications, and no analyses are safe to keep.</a:t>
            </a:r>
            <a:br>
              <a:rPr lang="en-US" altLang="ko-KR" dirty="0"/>
            </a:br>
            <a:r>
              <a:rPr lang="en-US" altLang="ko-KR" dirty="0"/>
              <a:t>The pipeline will recompute any required analysis on demand.</a:t>
            </a:r>
          </a:p>
          <a:p>
            <a:endParaRPr lang="en-US" altLang="ko-KR" dirty="0"/>
          </a:p>
          <a:p>
            <a:r>
              <a:rPr lang="en-US" altLang="ko-KR" dirty="0"/>
              <a:t>You can specify some analysis are still valid, such as dominator tree or CFG.</a:t>
            </a:r>
          </a:p>
          <a:p>
            <a:r>
              <a:rPr lang="en-US" altLang="ko-KR" dirty="0"/>
              <a:t>Then, the pipeline won’t recompute dominator tree or CFG.</a:t>
            </a:r>
          </a:p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2936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2C4C0-8F6C-42FA-98A6-A9AD4FDF7AE9}" type="datetime1">
              <a:rPr lang="ko-KR" altLang="en-US" smtClean="0"/>
              <a:t>2026-09-28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77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B449B-8938-4DE6-95E2-7CA93F695E49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522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69A45-DCFA-49C5-B553-A6BA7A9590BD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736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5849E-1BCB-4662-AE6C-E4543F74B898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364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B6535-DDCF-4AFC-A0BC-3AFE24B213D7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803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50597-04EA-4D55-BF0D-6FCDC5F1D61B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77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6A3AF-EBBE-4081-B711-56502AA58F5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037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C05F25-3CA4-4DAA-B0A7-8D887108215D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8783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A1FCB-DCFA-4727-9541-5B2A0992CB9A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847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1236E-6748-45D1-9C92-964912C12B7B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58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94D57-71BF-43E4-9728-6C69D5847D48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242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7290" y="2130425"/>
            <a:ext cx="6429420" cy="1470025"/>
          </a:xfrm>
        </p:spPr>
        <p:txBody>
          <a:bodyPr/>
          <a:lstStyle>
            <a:lvl1pPr>
              <a:defRPr sz="2800">
                <a:solidFill>
                  <a:srgbClr val="003399"/>
                </a:solidFill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90012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EE4AD-E1AE-41F1-A797-0E91117E2E8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2143108" y="714356"/>
            <a:ext cx="59170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CS492B </a:t>
            </a:r>
            <a:br>
              <a:rPr lang="en-US" altLang="ko-KR" sz="2800" b="1" dirty="0">
                <a:solidFill>
                  <a:srgbClr val="003399"/>
                </a:solidFill>
                <a:latin typeface="Arial"/>
              </a:rPr>
            </a:br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Analysis of Concurrent Programs</a:t>
            </a:r>
            <a:endParaRPr lang="ko-KR" altLang="en-US" sz="2800" b="1" dirty="0">
              <a:solidFill>
                <a:srgbClr val="003399"/>
              </a:solidFill>
              <a:latin typeface="Arial"/>
            </a:endParaRPr>
          </a:p>
        </p:txBody>
      </p:sp>
      <p:pic>
        <p:nvPicPr>
          <p:cNvPr id="9" name="Picture 8" descr="amd_barcelona_die_shot_medium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7224" y="714356"/>
            <a:ext cx="1296254" cy="1285884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500034" y="714356"/>
            <a:ext cx="285752" cy="128588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2895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42862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714356"/>
            <a:ext cx="8229600" cy="571504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59CF-812B-4163-94BC-DB31F21D583A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traight Connector 6"/>
          <p:cNvSpPr>
            <a:spLocks noChangeShapeType="1"/>
          </p:cNvSpPr>
          <p:nvPr userDrawn="1"/>
        </p:nvSpPr>
        <p:spPr bwMode="auto">
          <a:xfrm>
            <a:off x="500034" y="642918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1563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E7377-B78E-40EE-99B4-C81F081EFC7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Straight Connector 7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959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708E3-F26F-41D6-AA61-06B2200DF37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traight Connector 5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846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E81FB-8493-4DA6-B934-6BCF822A3DA5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40305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52425" y="341313"/>
            <a:ext cx="7648575" cy="8318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1090613" y="1314450"/>
            <a:ext cx="3376612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19625" y="1314450"/>
            <a:ext cx="3378200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553200"/>
            <a:ext cx="18288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CBE0377B-0405-4D51-8FFA-615F98262573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2590800" y="6616700"/>
            <a:ext cx="36576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772400" y="0"/>
            <a:ext cx="1371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L24-</a:t>
            </a:r>
            <a:fld id="{D68BA281-C415-4EFF-BB7B-1F43A2FB4DF6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585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757580F-9066-458D-817E-9FEBE3523811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468512" y="6356350"/>
            <a:ext cx="620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812360" y="6356350"/>
            <a:ext cx="4251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8172400" y="6381328"/>
            <a:ext cx="755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/ 22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15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6429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28670"/>
            <a:ext cx="8229600" cy="5500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DB859-ABBC-4E42-8465-7E818021EAC0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2026-09-28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500834"/>
            <a:ext cx="2895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LLVM Pass and Code Instrumentation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Picture 6" descr="KAIST_뒷배경 흰색.gif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858116" y="142852"/>
            <a:ext cx="1285884" cy="357190"/>
          </a:xfrm>
          <a:prstGeom prst="rect">
            <a:avLst/>
          </a:prstGeom>
        </p:spPr>
      </p:pic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428596" y="6643710"/>
            <a:ext cx="8229600" cy="0"/>
          </a:xfrm>
          <a:prstGeom prst="line">
            <a:avLst/>
          </a:prstGeom>
          <a:noFill/>
          <a:ln w="28575" cap="flat" cmpd="sng" algn="ctr">
            <a:solidFill>
              <a:srgbClr val="00206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223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3200" b="1" kern="1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2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llvm.org/docs/WritingAnLLVMNewPMPass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95536" y="2132856"/>
            <a:ext cx="8496944" cy="1971650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LLVM Pass and Code Instrumentation</a:t>
            </a:r>
            <a:endParaRPr lang="ko-KR" altLang="en-US" sz="40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4531568"/>
            <a:ext cx="6400800" cy="1201688"/>
          </a:xfrm>
        </p:spPr>
        <p:txBody>
          <a:bodyPr>
            <a:normAutofit/>
          </a:bodyPr>
          <a:lstStyle/>
          <a:p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Prof. </a:t>
            </a:r>
            <a:r>
              <a:rPr lang="en-US" altLang="ko-KR" sz="300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Moonzoo</a:t>
            </a:r>
            <a:r>
              <a:rPr lang="en-US" altLang="ko-KR" sz="3000">
                <a:solidFill>
                  <a:schemeClr val="tx1">
                    <a:lumMod val="75000"/>
                    <a:lumOff val="25000"/>
                  </a:schemeClr>
                </a:solidFill>
              </a:rPr>
              <a:t> Kim,</a:t>
            </a:r>
          </a:p>
          <a:p>
            <a:r>
              <a:rPr lang="en-US" altLang="ko-KR" sz="3000">
                <a:solidFill>
                  <a:schemeClr val="tx1">
                    <a:lumMod val="75000"/>
                    <a:lumOff val="25000"/>
                  </a:schemeClr>
                </a:solidFill>
              </a:rPr>
              <a:t>School of Computing, </a:t>
            </a:r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KAIST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EB335-B9F9-4B25-94C2-CCCE4EEC3920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179512" y="6093296"/>
            <a:ext cx="8712968" cy="648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042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Motivating</a:t>
            </a:r>
            <a:r>
              <a:rPr lang="ko-KR" altLang="en-US" dirty="0"/>
              <a:t> </a:t>
            </a:r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1"/>
            <a:ext cx="4186808" cy="4133056"/>
          </a:xfrm>
        </p:spPr>
        <p:txBody>
          <a:bodyPr>
            <a:normAutofit fontScale="70000" lnSpcReduction="20000"/>
          </a:bodyPr>
          <a:lstStyle/>
          <a:p>
            <a:pPr lvl="0"/>
            <a:r>
              <a:rPr lang="en-US" altLang="ko-KR" dirty="0"/>
              <a:t>(30 pts) Find bugs in the following program that has multiple bugs </a:t>
            </a:r>
            <a:endParaRPr lang="ko-KR" altLang="ko-KR" sz="2800" dirty="0"/>
          </a:p>
          <a:p>
            <a:pPr lvl="1"/>
            <a:r>
              <a:rPr lang="en-US" altLang="ko-KR" dirty="0"/>
              <a:t>Write down buggy lines, bugs,  and explain the bugs as many as possible</a:t>
            </a:r>
            <a:endParaRPr lang="ko-KR" altLang="ko-KR" sz="2400" dirty="0"/>
          </a:p>
          <a:p>
            <a:pPr lvl="1"/>
            <a:r>
              <a:rPr lang="en-US" altLang="ko-KR" dirty="0"/>
              <a:t>Write down a code </a:t>
            </a:r>
            <a:r>
              <a:rPr lang="en-US" altLang="ko-KR" dirty="0" err="1"/>
              <a:t>instrumentor</a:t>
            </a:r>
            <a:r>
              <a:rPr lang="en-US" altLang="ko-KR" dirty="0"/>
              <a:t> using Clang which inserts assert() to report runtime failures due to the bugs you detected.  </a:t>
            </a:r>
            <a:endParaRPr lang="ko-KR" altLang="ko-KR" sz="2400" dirty="0"/>
          </a:p>
          <a:p>
            <a:r>
              <a:rPr lang="en-US" altLang="ko-KR" dirty="0"/>
              <a:t>For example, to report a div-by-zero crash, your code should insert assert(z!=0) immediately before x=y/z; </a:t>
            </a:r>
            <a:endParaRPr lang="ko-KR" altLang="ko-KR" sz="28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B449B-8938-4DE6-95E2-7CA93F695E49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10" name="Rectangle 5"/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11" name="TextBox 6"/>
          <p:cNvSpPr txBox="1">
            <a:spLocks noChangeArrowheads="1"/>
          </p:cNvSpPr>
          <p:nvPr/>
        </p:nvSpPr>
        <p:spPr bwMode="auto">
          <a:xfrm>
            <a:off x="4820232" y="1517297"/>
            <a:ext cx="4000240" cy="4431983"/>
          </a:xfrm>
          <a:prstGeom prst="rect">
            <a:avLst/>
          </a:prstGeom>
          <a:noFill/>
          <a:ln w="9525">
            <a:solidFill>
              <a:srgbClr val="4F81BD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286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//example1.c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#include &lt;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malloc.h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&gt;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#include &lt;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stdio.h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&gt;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#include &lt;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string.h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&gt;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void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f() {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char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* mem = NULL;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length;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char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buf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[100];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바탕" panose="02030600000101010101" pitchFamily="18" charset="-127"/>
                <a:cs typeface="Times New Roman" panose="02020603050405020304" pitchFamily="18" charset="0"/>
              </a:rPr>
              <a:t>    // file descriptor 0 is connected to keyboard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read(0, &amp;length,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sizeof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(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));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r=read(0, &amp;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buf,length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&gt;100 ?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      100:length);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mem = malloc(r + 1);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buf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[r] = 0;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strcpy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(mem,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buf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printf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(mem);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  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fflush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(</a:t>
            </a: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stdout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);</a:t>
            </a:r>
            <a:endParaRPr kumimoji="0" lang="en-US" altLang="ko-KR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>
                <a:tab pos="228600" algn="l"/>
              </a:tabLst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Consolas" panose="020B0609020204030204" pitchFamily="49" charset="0"/>
              </a:rPr>
              <a:t>}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51720" y="6021288"/>
            <a:ext cx="544258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Calibri" panose="020F0502020204030204" pitchFamily="34" charset="0"/>
              </a:rPr>
              <a:t>Which tool do you prefer for the task?  Clang?  LLVM IR? </a:t>
            </a:r>
            <a:endParaRPr lang="ko-KR" altLang="en-US" dirty="0">
              <a:solidFill>
                <a:srgbClr val="FF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3403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Pass in LLVM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476872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 Pass receives an LLVM IR and performs analyses and/or transformations.</a:t>
            </a:r>
          </a:p>
          <a:p>
            <a:pPr lvl="1"/>
            <a:r>
              <a:rPr lang="en-US" altLang="ko-KR" sz="2000" dirty="0">
                <a:cs typeface="Courier New" panose="02070309020205020404" pitchFamily="49" charset="0"/>
              </a:rPr>
              <a:t>Using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opt</a:t>
            </a:r>
            <a:r>
              <a:rPr lang="en-US" altLang="ko-KR" sz="2000" dirty="0"/>
              <a:t>, it is possible to run each Pass.</a:t>
            </a:r>
          </a:p>
          <a:p>
            <a:r>
              <a:rPr lang="en-US" altLang="ko-KR" sz="2400" dirty="0"/>
              <a:t>A Pass can be executed in a middle of compiling process from  source code to binary code.</a:t>
            </a:r>
          </a:p>
          <a:p>
            <a:pPr lvl="1"/>
            <a:r>
              <a:rPr lang="en-US" altLang="ko-KR" sz="2000" dirty="0"/>
              <a:t>The pipeline of Passes is arranged by Pass Manager</a:t>
            </a:r>
          </a:p>
          <a:p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45B27-56DB-4372-A68A-ADF6FDA563DF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1271258" y="4656741"/>
            <a:ext cx="939104" cy="914097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>
              <a:lnSpc>
                <a:spcPct val="80000"/>
              </a:lnSpc>
            </a:pPr>
            <a:r>
              <a:rPr lang="en-US" altLang="ko-KR" dirty="0">
                <a:latin typeface="Calibri" panose="020F0502020204030204" pitchFamily="34" charset="0"/>
              </a:rPr>
              <a:t>C/C++</a:t>
            </a:r>
          </a:p>
          <a:p>
            <a:pPr algn="ctr">
              <a:lnSpc>
                <a:spcPct val="80000"/>
              </a:lnSpc>
            </a:pPr>
            <a:r>
              <a:rPr lang="en-US" altLang="ko-KR" dirty="0">
                <a:latin typeface="Calibri" panose="020F0502020204030204" pitchFamily="34" charset="0"/>
              </a:rPr>
              <a:t>front</a:t>
            </a:r>
          </a:p>
          <a:p>
            <a:pPr algn="ctr">
              <a:lnSpc>
                <a:spcPct val="80000"/>
              </a:lnSpc>
            </a:pPr>
            <a:r>
              <a:rPr lang="en-US" altLang="ko-KR" dirty="0">
                <a:latin typeface="Calibri" panose="020F0502020204030204" pitchFamily="34" charset="0"/>
              </a:rPr>
              <a:t>end</a:t>
            </a:r>
            <a:endParaRPr lang="ko-KR" altLang="en-US" dirty="0">
              <a:latin typeface="Calibri" panose="020F0502020204030204" pitchFamily="34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3046175" y="4829998"/>
            <a:ext cx="889380" cy="567583"/>
          </a:xfrm>
          <a:prstGeom prst="rect">
            <a:avLst/>
          </a:prstGeom>
          <a:ln w="12700">
            <a:solidFill>
              <a:srgbClr val="0033C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rgbClr val="0033CC"/>
                </a:solidFill>
                <a:latin typeface="Calibri" panose="020F0502020204030204" pitchFamily="34" charset="0"/>
              </a:rPr>
              <a:t>Pass</a:t>
            </a:r>
            <a:r>
              <a:rPr lang="en-US" altLang="ko-KR" baseline="-25000" dirty="0">
                <a:solidFill>
                  <a:srgbClr val="0033CC"/>
                </a:solidFill>
                <a:latin typeface="Calibri" panose="020F0502020204030204" pitchFamily="34" charset="0"/>
              </a:rPr>
              <a:t>1</a:t>
            </a:r>
            <a:endParaRPr lang="ko-KR" altLang="en-US" baseline="-25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303707" y="4829998"/>
            <a:ext cx="792088" cy="567583"/>
          </a:xfrm>
          <a:prstGeom prst="rect">
            <a:avLst/>
          </a:prstGeom>
          <a:ln w="12700">
            <a:solidFill>
              <a:srgbClr val="0033C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rgbClr val="0033CC"/>
                </a:solidFill>
                <a:latin typeface="Calibri" panose="020F0502020204030204" pitchFamily="34" charset="0"/>
              </a:rPr>
              <a:t>Pass</a:t>
            </a:r>
            <a:r>
              <a:rPr lang="en-US" altLang="ko-KR" baseline="-25000" dirty="0" err="1">
                <a:solidFill>
                  <a:srgbClr val="0033CC"/>
                </a:solidFill>
                <a:latin typeface="Calibri" panose="020F0502020204030204" pitchFamily="34" charset="0"/>
              </a:rPr>
              <a:t>n</a:t>
            </a:r>
            <a:endParaRPr lang="ko-KR" altLang="en-US" baseline="-25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831508" y="4656742"/>
            <a:ext cx="867964" cy="914097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latin typeface="Calibri" panose="020F0502020204030204" pitchFamily="34" charset="0"/>
              </a:rPr>
              <a:t>llc</a:t>
            </a:r>
            <a:endParaRPr lang="ko-KR" altLang="en-US" dirty="0">
              <a:latin typeface="Calibri" panose="020F0502020204030204" pitchFamily="34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443638" y="4698292"/>
            <a:ext cx="316300" cy="83099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</a:rPr>
              <a:t>IR</a:t>
            </a:r>
            <a:endParaRPr lang="ko-KR" altLang="en-US" dirty="0">
              <a:latin typeface="Calibri" panose="020F0502020204030204" pitchFamily="34" charset="0"/>
            </a:endParaRPr>
          </a:p>
        </p:txBody>
      </p:sp>
      <p:cxnSp>
        <p:nvCxnSpPr>
          <p:cNvPr id="17" name="직선 화살표 연결선 16"/>
          <p:cNvCxnSpPr>
            <a:stCxn id="9" idx="3"/>
            <a:endCxn id="14" idx="1"/>
          </p:cNvCxnSpPr>
          <p:nvPr/>
        </p:nvCxnSpPr>
        <p:spPr>
          <a:xfrm>
            <a:off x="2210362" y="5113790"/>
            <a:ext cx="23327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14" idx="3"/>
            <a:endCxn id="10" idx="1"/>
          </p:cNvCxnSpPr>
          <p:nvPr/>
        </p:nvCxnSpPr>
        <p:spPr>
          <a:xfrm flipV="1">
            <a:off x="2759938" y="5113790"/>
            <a:ext cx="28623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4267326" y="4698292"/>
            <a:ext cx="316300" cy="83099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</a:rPr>
              <a:t>IR</a:t>
            </a:r>
            <a:r>
              <a:rPr lang="en-US" altLang="ko-KR" baseline="-25000" dirty="0">
                <a:solidFill>
                  <a:schemeClr val="tx1"/>
                </a:solidFill>
                <a:latin typeface="Calibri" panose="020F0502020204030204" pitchFamily="34" charset="0"/>
              </a:rPr>
              <a:t>1</a:t>
            </a:r>
            <a:endParaRPr lang="ko-KR" altLang="en-US" baseline="-250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cxnSp>
        <p:nvCxnSpPr>
          <p:cNvPr id="25" name="직선 화살표 연결선 24"/>
          <p:cNvCxnSpPr>
            <a:stCxn id="10" idx="3"/>
            <a:endCxn id="24" idx="1"/>
          </p:cNvCxnSpPr>
          <p:nvPr/>
        </p:nvCxnSpPr>
        <p:spPr>
          <a:xfrm>
            <a:off x="3935555" y="5113790"/>
            <a:ext cx="331771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>
            <a:stCxn id="24" idx="3"/>
            <a:endCxn id="29" idx="1"/>
          </p:cNvCxnSpPr>
          <p:nvPr/>
        </p:nvCxnSpPr>
        <p:spPr>
          <a:xfrm>
            <a:off x="4583626" y="5113791"/>
            <a:ext cx="216024" cy="19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99650" y="4947892"/>
            <a:ext cx="331772" cy="335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…</a:t>
            </a:r>
            <a:endParaRPr lang="ko-KR" altLang="en-US" sz="1600" dirty="0"/>
          </a:p>
        </p:txBody>
      </p:sp>
      <p:cxnSp>
        <p:nvCxnSpPr>
          <p:cNvPr id="31" name="직선 화살표 연결선 30"/>
          <p:cNvCxnSpPr>
            <a:stCxn id="29" idx="3"/>
            <a:endCxn id="11" idx="1"/>
          </p:cNvCxnSpPr>
          <p:nvPr/>
        </p:nvCxnSpPr>
        <p:spPr>
          <a:xfrm flipV="1">
            <a:off x="5131422" y="5113790"/>
            <a:ext cx="172285" cy="19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>
            <a:stCxn id="11" idx="3"/>
            <a:endCxn id="39" idx="1"/>
          </p:cNvCxnSpPr>
          <p:nvPr/>
        </p:nvCxnSpPr>
        <p:spPr>
          <a:xfrm>
            <a:off x="6095795" y="5113790"/>
            <a:ext cx="288031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/>
          <p:cNvSpPr/>
          <p:nvPr/>
        </p:nvSpPr>
        <p:spPr>
          <a:xfrm>
            <a:off x="6383826" y="4698292"/>
            <a:ext cx="316300" cy="83099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Calibri" panose="020F0502020204030204" pitchFamily="34" charset="0"/>
              </a:rPr>
              <a:t>IR</a:t>
            </a:r>
            <a:r>
              <a:rPr lang="en-US" altLang="ko-KR" baseline="-25000" dirty="0" err="1">
                <a:solidFill>
                  <a:schemeClr val="tx1"/>
                </a:solidFill>
                <a:latin typeface="Calibri" panose="020F0502020204030204" pitchFamily="34" charset="0"/>
              </a:rPr>
              <a:t>n</a:t>
            </a:r>
            <a:endParaRPr lang="ko-KR" altLang="en-US" baseline="-250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cxnSp>
        <p:nvCxnSpPr>
          <p:cNvPr id="42" name="직선 화살표 연결선 41"/>
          <p:cNvCxnSpPr>
            <a:stCxn id="39" idx="3"/>
            <a:endCxn id="12" idx="1"/>
          </p:cNvCxnSpPr>
          <p:nvPr/>
        </p:nvCxnSpPr>
        <p:spPr>
          <a:xfrm>
            <a:off x="6700126" y="5113791"/>
            <a:ext cx="1313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/>
          <p:cNvCxnSpPr>
            <a:stCxn id="12" idx="3"/>
            <a:endCxn id="46" idx="1"/>
          </p:cNvCxnSpPr>
          <p:nvPr/>
        </p:nvCxnSpPr>
        <p:spPr>
          <a:xfrm>
            <a:off x="7699472" y="5113791"/>
            <a:ext cx="2569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7956376" y="4698292"/>
            <a:ext cx="1080120" cy="83099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</a:rPr>
              <a:t>Executable code</a:t>
            </a:r>
            <a:endParaRPr lang="ko-KR" altLang="en-US" baseline="-25000" dirty="0">
              <a:latin typeface="Calibri" panose="020F0502020204030204" pitchFamily="34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79512" y="4698292"/>
            <a:ext cx="792088" cy="83099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altLang="ko-KR" dirty="0">
                <a:latin typeface="Calibri" panose="020F0502020204030204" pitchFamily="34" charset="0"/>
              </a:rPr>
              <a:t>Source </a:t>
            </a:r>
            <a:br>
              <a:rPr lang="en-US" altLang="ko-KR" dirty="0">
                <a:latin typeface="Calibri" panose="020F0502020204030204" pitchFamily="34" charset="0"/>
              </a:rPr>
            </a:br>
            <a:r>
              <a:rPr lang="en-US" altLang="ko-KR" dirty="0">
                <a:latin typeface="Calibri" panose="020F0502020204030204" pitchFamily="34" charset="0"/>
              </a:rPr>
              <a:t>code</a:t>
            </a:r>
          </a:p>
        </p:txBody>
      </p:sp>
      <p:cxnSp>
        <p:nvCxnSpPr>
          <p:cNvPr id="53" name="직선 화살표 연결선 52"/>
          <p:cNvCxnSpPr>
            <a:stCxn id="52" idx="3"/>
            <a:endCxn id="9" idx="1"/>
          </p:cNvCxnSpPr>
          <p:nvPr/>
        </p:nvCxnSpPr>
        <p:spPr>
          <a:xfrm flipV="1">
            <a:off x="971600" y="5113790"/>
            <a:ext cx="29965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2855434" y="4656742"/>
            <a:ext cx="3382740" cy="91409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Calibri" panose="020F0502020204030204" pitchFamily="34" charset="0"/>
              </a:rPr>
              <a:t>Opt</a:t>
            </a:r>
            <a:endParaRPr lang="ko-KR" altLang="en-US" baseline="-250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121243" y="4293096"/>
            <a:ext cx="6690368" cy="1421759"/>
          </a:xfrm>
          <a:prstGeom prst="rect">
            <a:avLst/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t"/>
          <a:lstStyle/>
          <a:p>
            <a:pPr algn="ctr"/>
            <a:r>
              <a:rPr lang="en-US" altLang="ko-KR" dirty="0">
                <a:latin typeface="Calibri" panose="020F0502020204030204" pitchFamily="34" charset="0"/>
              </a:rPr>
              <a:t>Clang</a:t>
            </a:r>
          </a:p>
        </p:txBody>
      </p:sp>
      <p:sp>
        <p:nvSpPr>
          <p:cNvPr id="74" name="슬라이드 번호 개체 틀 7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9376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1520" y="446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Control Flow Graph (CFG) at LLVM IR 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B449B-8938-4DE6-95E2-7CA93F695E49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51520" y="1020792"/>
            <a:ext cx="367240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f() {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y = (x &gt; 0) ? x : 0 ;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return y;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9952" y="1020792"/>
            <a:ext cx="51125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ko-KR" alt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 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i32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phi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],[0,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return i32 %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lnSpc>
                <a:spcPct val="80000"/>
              </a:lnSpc>
              <a:buAutoNum type="arabicPlain" startAt="13"/>
            </a:pP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386237" y="1159781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595989" y="2060848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CFG</a:t>
            </a:r>
            <a:endParaRPr lang="ko-KR" altLang="en-US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045895"/>
              </p:ext>
            </p:extLst>
          </p:nvPr>
        </p:nvGraphicFramePr>
        <p:xfrm>
          <a:off x="2339752" y="2806828"/>
          <a:ext cx="1440160" cy="1188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</a:t>
                      </a:r>
                      <a:r>
                        <a:rPr lang="en-US" altLang="ko-KR" baseline="0" dirty="0"/>
                        <a:t> …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3 %0=…</a:t>
                      </a:r>
                      <a:endParaRPr lang="ko-KR" altLang="en-US" dirty="0"/>
                    </a:p>
                  </a:txBody>
                  <a:tcPr marT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4 %c=…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 </a:t>
                      </a:r>
                      <a:r>
                        <a:rPr lang="en-US" altLang="ko-KR" dirty="0" err="1"/>
                        <a:t>br</a:t>
                      </a:r>
                      <a:r>
                        <a:rPr lang="en-US" altLang="ko-KR" baseline="0" dirty="0"/>
                        <a:t> i1 %c…</a:t>
                      </a:r>
                      <a:endParaRPr lang="ko-KR" altLang="en-US" dirty="0"/>
                    </a:p>
                  </a:txBody>
                  <a:tcPr marT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직사각형 15"/>
          <p:cNvSpPr/>
          <p:nvPr/>
        </p:nvSpPr>
        <p:spPr>
          <a:xfrm>
            <a:off x="2336049" y="2466996"/>
            <a:ext cx="1011815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u="sng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107504" y="4253592"/>
            <a:ext cx="736099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u="sng" dirty="0">
                <a:latin typeface="Courier New" panose="02070309020205020404" pitchFamily="49" charset="0"/>
                <a:cs typeface="Courier New" panose="02070309020205020404" pitchFamily="49" charset="0"/>
              </a:rPr>
              <a:t>c.t:</a:t>
            </a:r>
          </a:p>
        </p:txBody>
      </p:sp>
      <p:graphicFrame>
        <p:nvGraphicFramePr>
          <p:cNvPr id="19" name="표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768111"/>
              </p:ext>
            </p:extLst>
          </p:nvPr>
        </p:nvGraphicFramePr>
        <p:xfrm>
          <a:off x="179511" y="4586956"/>
          <a:ext cx="2088233" cy="594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82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7 %1=load i32* …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8 </a:t>
                      </a:r>
                      <a:r>
                        <a:rPr lang="en-US" altLang="ko-KR" dirty="0" err="1"/>
                        <a:t>br</a:t>
                      </a:r>
                      <a:r>
                        <a:rPr lang="en-US" altLang="ko-KR" dirty="0"/>
                        <a:t> label</a:t>
                      </a:r>
                      <a:r>
                        <a:rPr lang="en-US" altLang="ko-KR" baseline="0" dirty="0"/>
                        <a:t> %</a:t>
                      </a:r>
                      <a:r>
                        <a:rPr lang="en-US" altLang="ko-KR" baseline="0" dirty="0" err="1"/>
                        <a:t>c.end</a:t>
                      </a:r>
                      <a:endParaRPr lang="ko-KR" altLang="en-US" dirty="0"/>
                    </a:p>
                  </a:txBody>
                  <a:tcPr marT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3635896" y="4437112"/>
            <a:ext cx="736099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r>
              <a:rPr lang="en-US" altLang="ko-KR" u="sng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graphicFrame>
        <p:nvGraphicFramePr>
          <p:cNvPr id="21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175152"/>
              </p:ext>
            </p:extLst>
          </p:nvPr>
        </p:nvGraphicFramePr>
        <p:xfrm>
          <a:off x="3707903" y="4770476"/>
          <a:ext cx="2232249" cy="274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10 </a:t>
                      </a:r>
                      <a:r>
                        <a:rPr lang="en-US" altLang="ko-KR" dirty="0" err="1"/>
                        <a:t>br</a:t>
                      </a:r>
                      <a:r>
                        <a:rPr lang="en-US" altLang="ko-KR" dirty="0"/>
                        <a:t> label %</a:t>
                      </a:r>
                      <a:r>
                        <a:rPr lang="en-US" altLang="ko-KR" dirty="0" err="1"/>
                        <a:t>c.end</a:t>
                      </a:r>
                      <a:r>
                        <a:rPr lang="en-US" altLang="ko-KR" dirty="0"/>
                        <a:t> 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223936"/>
              </p:ext>
            </p:extLst>
          </p:nvPr>
        </p:nvGraphicFramePr>
        <p:xfrm>
          <a:off x="2123728" y="5944696"/>
          <a:ext cx="1872208" cy="868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12 %</a:t>
                      </a:r>
                      <a:r>
                        <a:rPr lang="en-US" altLang="ko-KR" dirty="0" err="1"/>
                        <a:t>cond</a:t>
                      </a:r>
                      <a:r>
                        <a:rPr lang="en-US" altLang="ko-KR" dirty="0"/>
                        <a:t>=phi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13 store …</a:t>
                      </a:r>
                      <a:endParaRPr lang="ko-KR" altLang="en-US" dirty="0"/>
                    </a:p>
                  </a:txBody>
                  <a:tcPr marT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73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14 return …</a:t>
                      </a:r>
                      <a:endParaRPr lang="ko-KR" altLang="en-US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직사각형 22"/>
          <p:cNvSpPr/>
          <p:nvPr/>
        </p:nvSpPr>
        <p:spPr>
          <a:xfrm>
            <a:off x="1547664" y="5635348"/>
            <a:ext cx="1011815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r>
              <a:rPr lang="en-US" altLang="ko-KR" u="sng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cxnSp>
        <p:nvCxnSpPr>
          <p:cNvPr id="25" name="직선 화살표 연결선 24"/>
          <p:cNvCxnSpPr>
            <a:stCxn id="15" idx="2"/>
            <a:endCxn id="19" idx="0"/>
          </p:cNvCxnSpPr>
          <p:nvPr/>
        </p:nvCxnSpPr>
        <p:spPr>
          <a:xfrm flipH="1">
            <a:off x="1223627" y="3995548"/>
            <a:ext cx="1836205" cy="59140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>
            <a:stCxn id="15" idx="2"/>
          </p:cNvCxnSpPr>
          <p:nvPr/>
        </p:nvCxnSpPr>
        <p:spPr>
          <a:xfrm>
            <a:off x="3059832" y="3995548"/>
            <a:ext cx="1836203" cy="77492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/>
          <p:cNvCxnSpPr>
            <a:endCxn id="22" idx="0"/>
          </p:cNvCxnSpPr>
          <p:nvPr/>
        </p:nvCxnSpPr>
        <p:spPr>
          <a:xfrm flipH="1">
            <a:off x="3059832" y="5044796"/>
            <a:ext cx="1692188" cy="89990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>
            <a:stCxn id="19" idx="2"/>
            <a:endCxn id="22" idx="0"/>
          </p:cNvCxnSpPr>
          <p:nvPr/>
        </p:nvCxnSpPr>
        <p:spPr>
          <a:xfrm>
            <a:off x="1223627" y="5181316"/>
            <a:ext cx="1836205" cy="76338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61325" y="3635732"/>
            <a:ext cx="1278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i="1" dirty="0"/>
              <a:t>terminator</a:t>
            </a:r>
            <a:endParaRPr lang="ko-KR" altLang="en-US" i="1" dirty="0"/>
          </a:p>
        </p:txBody>
      </p:sp>
      <p:sp>
        <p:nvSpPr>
          <p:cNvPr id="44" name="TextBox 43"/>
          <p:cNvSpPr txBox="1"/>
          <p:nvPr/>
        </p:nvSpPr>
        <p:spPr>
          <a:xfrm>
            <a:off x="3995936" y="6453336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1" dirty="0"/>
              <a:t>terminator</a:t>
            </a:r>
            <a:endParaRPr lang="ko-KR" altLang="en-US" i="1" dirty="0"/>
          </a:p>
        </p:txBody>
      </p:sp>
      <p:sp>
        <p:nvSpPr>
          <p:cNvPr id="45" name="TextBox 44"/>
          <p:cNvSpPr txBox="1"/>
          <p:nvPr/>
        </p:nvSpPr>
        <p:spPr>
          <a:xfrm>
            <a:off x="5868144" y="4715852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1" dirty="0"/>
              <a:t>terminator</a:t>
            </a:r>
            <a:endParaRPr lang="ko-KR" altLang="en-US" i="1" dirty="0"/>
          </a:p>
        </p:txBody>
      </p:sp>
      <p:sp>
        <p:nvSpPr>
          <p:cNvPr id="46" name="TextBox 45"/>
          <p:cNvSpPr txBox="1"/>
          <p:nvPr/>
        </p:nvSpPr>
        <p:spPr>
          <a:xfrm>
            <a:off x="2195736" y="485986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1" dirty="0"/>
              <a:t>terminator</a:t>
            </a:r>
            <a:endParaRPr lang="ko-KR" altLang="en-US" i="1" dirty="0"/>
          </a:p>
        </p:txBody>
      </p:sp>
    </p:spTree>
    <p:extLst>
      <p:ext uri="{BB962C8B-B14F-4D97-AF65-F5344CB8AC3E}">
        <p14:creationId xmlns:p14="http://schemas.microsoft.com/office/powerpoint/2010/main" val="165448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854968"/>
          </a:xfrm>
        </p:spPr>
        <p:txBody>
          <a:bodyPr/>
          <a:lstStyle/>
          <a:p>
            <a:r>
              <a:rPr lang="en-US" altLang="ko-KR" dirty="0"/>
              <a:t>Example Pass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7544" y="1340768"/>
            <a:ext cx="8280920" cy="290892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Let’s create </a:t>
            </a:r>
            <a:r>
              <a:rPr lang="en-US" altLang="ko-KR" sz="2400" i="1" dirty="0" err="1"/>
              <a:t>IntWrite</a:t>
            </a:r>
            <a:r>
              <a:rPr lang="en-US" altLang="ko-KR" sz="2400" i="1" dirty="0"/>
              <a:t> </a:t>
            </a:r>
            <a:r>
              <a:rPr lang="en-US" altLang="ko-KR" sz="2400" dirty="0"/>
              <a:t>that aim to monitor all history of 32-bit integer variable updates (definitions)</a:t>
            </a:r>
          </a:p>
          <a:p>
            <a:pPr lvl="1"/>
            <a:r>
              <a:rPr lang="en-US" altLang="ko-KR" sz="2000" dirty="0"/>
              <a:t>Produces a text file where it records which variable is defined as which value at which code location.</a:t>
            </a:r>
          </a:p>
          <a:p>
            <a:pPr lvl="1"/>
            <a:endParaRPr lang="en-US" altLang="ko-KR" sz="1200" dirty="0"/>
          </a:p>
          <a:p>
            <a:r>
              <a:rPr lang="en-US" altLang="ko-KR" sz="2400" dirty="0" err="1"/>
              <a:t>IntWrite</a:t>
            </a:r>
            <a:r>
              <a:rPr lang="en-US" altLang="ko-KR" sz="2400" dirty="0"/>
              <a:t> instruments a target program to insert a </a:t>
            </a:r>
            <a:r>
              <a:rPr lang="en-US" altLang="ko-KR" sz="2400" i="1" dirty="0"/>
              <a:t>probe</a:t>
            </a:r>
            <a:r>
              <a:rPr lang="en-US" altLang="ko-KR" sz="2400" dirty="0"/>
              <a:t> before every integer writing operation, which extracts runtime information</a:t>
            </a:r>
          </a:p>
          <a:p>
            <a:pPr marL="0" indent="0">
              <a:buNone/>
            </a:pP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DE131-6B4B-4AD8-9C0A-C96D216A43D6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05805" y="4917067"/>
            <a:ext cx="26642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Courier New" panose="02070309020205020404" pitchFamily="49" charset="0"/>
                <a:cs typeface="Courier New" panose="02070309020205020404" pitchFamily="49" charset="0"/>
              </a:rPr>
              <a:t>01 int f(int x) { </a:t>
            </a:r>
          </a:p>
          <a:p>
            <a:r>
              <a:rPr lang="en-US" altLang="ko-KR" b="1"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altLang="ko-KR" b="1">
                <a:latin typeface="Courier New" panose="02070309020205020404" pitchFamily="49" charset="0"/>
                <a:cs typeface="Courier New" panose="02070309020205020404" pitchFamily="49" charset="0"/>
              </a:rPr>
              <a:t>10  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y = x ;</a:t>
            </a:r>
          </a:p>
          <a:p>
            <a:r>
              <a:rPr lang="en-US" altLang="ko-KR" b="1">
                <a:latin typeface="Courier New" panose="02070309020205020404" pitchFamily="49" charset="0"/>
                <a:cs typeface="Courier New" panose="02070309020205020404" pitchFamily="49" charset="0"/>
              </a:rPr>
              <a:t>11   z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= y + x ;</a:t>
            </a:r>
            <a:endParaRPr lang="ko-KR" alt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75856" y="4077072"/>
            <a:ext cx="5760640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 _probe_(int 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l,char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fn,int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v){ ...</a:t>
            </a:r>
          </a:p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fprintf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fp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,"Store %d in %s @line %d\n",</a:t>
            </a:r>
          </a:p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v,fn,l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);}</a:t>
            </a:r>
          </a:p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_probe_(10, "f", x);</a:t>
            </a:r>
          </a:p>
          <a:p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10 y = x ;</a:t>
            </a:r>
          </a:p>
          <a:p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_probe_(11, "f", </a:t>
            </a:r>
            <a:r>
              <a:rPr lang="en-US" altLang="ko-KR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y+x</a:t>
            </a:r>
            <a:r>
              <a:rPr lang="en-US" altLang="ko-KR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altLang="ko-KR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AutoNum type="arabicPlain" startAt="11"/>
            </a:pP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 z = y + x ;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2464346" y="5249434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133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altLang="ko-KR" sz="3600" dirty="0"/>
              <a:t>Class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7544" y="1600200"/>
            <a:ext cx="8229600" cy="4756150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ts val="1200"/>
              </a:spcBef>
            </a:pPr>
            <a:r>
              <a:rPr lang="en-US" altLang="ko-KR" sz="2000" dirty="0"/>
              <a:t>A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altLang="ko-KR" sz="2000" dirty="0"/>
              <a:t> instance stores all information related to the LLVM IR created by a target program file (functions, global variables, etc.)</a:t>
            </a:r>
          </a:p>
          <a:p>
            <a:pPr>
              <a:spcBef>
                <a:spcPts val="1200"/>
              </a:spcBef>
            </a:pPr>
            <a:r>
              <a:rPr lang="en-US" altLang="ko-KR" sz="2000" dirty="0"/>
              <a:t>APIs (public methods)</a:t>
            </a:r>
          </a:p>
          <a:p>
            <a:pPr lvl="1">
              <a:spcBef>
                <a:spcPts val="1200"/>
              </a:spcBef>
            </a:pP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getModuleIdentifier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: return the name of the module</a:t>
            </a:r>
          </a:p>
          <a:p>
            <a:pPr lvl="1">
              <a:spcBef>
                <a:spcPts val="1200"/>
              </a:spcBef>
            </a:pP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getFunction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StringRef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Name)</a:t>
            </a:r>
            <a:r>
              <a:rPr lang="en-US" altLang="ko-KR" sz="2000" dirty="0"/>
              <a:t>: return the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altLang="ko-KR" sz="2000" dirty="0"/>
              <a:t>instance whose identifier is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altLang="ko-KR" sz="2000" dirty="0"/>
              <a:t> in the module</a:t>
            </a:r>
          </a:p>
          <a:p>
            <a:pPr lvl="1">
              <a:spcBef>
                <a:spcPts val="1200"/>
              </a:spcBef>
            </a:pP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getOrInsertFunction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StringRef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Name, Type *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ReturnType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,…)</a:t>
            </a:r>
            <a:r>
              <a:rPr lang="en-US" altLang="ko-KR" sz="2000" dirty="0"/>
              <a:t>: add a new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altLang="ko-KR" sz="2000" dirty="0"/>
              <a:t>instance whose identifier is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altLang="ko-KR" sz="2000" dirty="0"/>
              <a:t> to the module</a:t>
            </a:r>
          </a:p>
          <a:p>
            <a:pPr lvl="1">
              <a:spcBef>
                <a:spcPts val="1200"/>
              </a:spcBef>
            </a:pP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getGlobalVariable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StringRef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Name)</a:t>
            </a:r>
            <a:r>
              <a:rPr lang="en-US" altLang="ko-KR" sz="2000" dirty="0"/>
              <a:t>: return the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GlobalVariable</a:t>
            </a:r>
            <a:r>
              <a:rPr lang="en-US" altLang="ko-KR" sz="2000" dirty="0"/>
              <a:t> instance whose identifier is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altLang="ko-KR" sz="2000" dirty="0"/>
              <a:t> in the module</a:t>
            </a:r>
          </a:p>
          <a:p>
            <a:pPr lvl="1">
              <a:spcBef>
                <a:spcPts val="12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functions(): </a:t>
            </a:r>
            <a:r>
              <a:rPr lang="en-US" altLang="ko-KR" sz="2000" dirty="0"/>
              <a:t>return an iterator that iterates through functions in the module. 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0532D-3F30-49F2-ACAA-4481DFBE042D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819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altLang="ko-KR" sz="3600" dirty="0"/>
              <a:t>Class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A 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altLang="ko-KR" sz="2400" dirty="0"/>
              <a:t> instance is used for representing the data type of registers, variables, and function arguments.</a:t>
            </a:r>
          </a:p>
          <a:p>
            <a:endParaRPr lang="en-US" altLang="ko-KR" sz="2400" dirty="0"/>
          </a:p>
          <a:p>
            <a:r>
              <a:rPr lang="en-US" altLang="ko-KR" sz="2400" dirty="0"/>
              <a:t>Static members</a:t>
            </a:r>
          </a:p>
          <a:p>
            <a:pPr lvl="1"/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Type::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getVoidTy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altLang="ko-KR" sz="2000" dirty="0"/>
              <a:t>: void type</a:t>
            </a:r>
          </a:p>
          <a:p>
            <a:pPr lvl="1"/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Type::getInt8Ty(…)</a:t>
            </a:r>
            <a:r>
              <a:rPr lang="en-US" altLang="ko-KR" sz="2000" dirty="0"/>
              <a:t>: 8-bit unsigned integer (char) type</a:t>
            </a:r>
          </a:p>
          <a:p>
            <a:pPr lvl="1"/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Type::getInt32Ty(…)</a:t>
            </a:r>
            <a:r>
              <a:rPr lang="en-US" altLang="ko-KR" sz="2000" dirty="0"/>
              <a:t>: 32-bit unsigned integer type</a:t>
            </a:r>
          </a:p>
          <a:p>
            <a:pPr lvl="1"/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Type::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getDoubleTy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altLang="ko-KR" sz="2000" dirty="0"/>
              <a:t>: 64-bit IEEE floating pointer type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PointerType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::get(…)</a:t>
            </a:r>
            <a:r>
              <a:rPr lang="en-US" altLang="ko-KR" sz="2000" dirty="0"/>
              <a:t>:  opaque pointer type</a:t>
            </a:r>
          </a:p>
          <a:p>
            <a:pPr lvl="1"/>
            <a:endParaRPr lang="en-US" altLang="ko-KR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025F2-1258-465D-B0D0-04C55817DB62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927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PassInfoMixin</a:t>
            </a:r>
            <a:r>
              <a:rPr lang="en-US" altLang="ko-KR" sz="3600" dirty="0"/>
              <a:t> Class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3337" y="1328584"/>
            <a:ext cx="8229600" cy="4525963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It is the class that you should inherit to make your own Pass.</a:t>
            </a:r>
            <a:endParaRPr lang="en-US" altLang="ko-KR" sz="2200" dirty="0"/>
          </a:p>
          <a:p>
            <a:r>
              <a:rPr lang="en-US" altLang="ko-KR" sz="2200" dirty="0"/>
              <a:t>This example iterates through all basic blocks in all functions and executes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runOnBasicBlock</a:t>
            </a:r>
            <a:r>
              <a:rPr lang="en-US" altLang="ko-KR" sz="2200" dirty="0"/>
              <a:t> for each basic block.</a:t>
            </a:r>
            <a:endParaRPr lang="en-US" altLang="ko-KR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57297-BECB-48DC-833F-D33E88E9058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20249-763B-FF19-C862-19148D4B3159}"/>
              </a:ext>
            </a:extLst>
          </p:cNvPr>
          <p:cNvSpPr txBox="1"/>
          <p:nvPr/>
        </p:nvSpPr>
        <p:spPr>
          <a:xfrm>
            <a:off x="657888" y="2821353"/>
            <a:ext cx="8265978" cy="3516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PassInfoMixin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PreservedAnalyses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ModuleAnalysisManager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BasicBlock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BB : </a:t>
            </a:r>
            <a:r>
              <a:rPr lang="ko-KR" altLang="ko-K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(BB) ;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}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PreservedAnalyses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none</a:t>
            </a:r>
            <a:r>
              <a:rPr lang="ko-KR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}</a:t>
            </a:r>
            <a:endParaRPr lang="en-US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altLang="ko-K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  <a:endParaRPr lang="ko-KR" altLang="ko-KR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6D76EA-2F83-0B4B-531E-011C4AC54F75}"/>
              </a:ext>
            </a:extLst>
          </p:cNvPr>
          <p:cNvSpPr txBox="1"/>
          <p:nvPr/>
        </p:nvSpPr>
        <p:spPr>
          <a:xfrm>
            <a:off x="39274" y="2821353"/>
            <a:ext cx="652277" cy="3516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3095"/>
              </a:lnSpc>
              <a:buNone/>
            </a:pPr>
            <a:r>
              <a:rPr lang="en-US" altLang="ko-KR" b="0" dirty="0">
                <a:effectLst/>
                <a:latin typeface="Consolas" panose="020B0609020204030204" pitchFamily="49" charset="0"/>
              </a:rPr>
              <a:t>1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2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3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4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5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6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7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8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9</a:t>
            </a:r>
          </a:p>
          <a:p>
            <a:pPr algn="r">
              <a:lnSpc>
                <a:spcPct val="113095"/>
              </a:lnSpc>
              <a:buNone/>
            </a:pPr>
            <a:r>
              <a:rPr lang="en-US" altLang="ko-KR" dirty="0">
                <a:latin typeface="Consolas" panose="020B0609020204030204" pitchFamily="49" charset="0"/>
              </a:rPr>
              <a:t>10</a:t>
            </a:r>
          </a:p>
          <a:p>
            <a:pPr algn="r">
              <a:lnSpc>
                <a:spcPct val="113095"/>
              </a:lnSpc>
              <a:buNone/>
            </a:pPr>
            <a:endParaRPr lang="ko-KR" altLang="ko-KR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914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361032" y="4055050"/>
            <a:ext cx="8639418" cy="150392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358032" y="2426923"/>
            <a:ext cx="8607998" cy="146482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720080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Example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908720"/>
            <a:ext cx="8229600" cy="1468760"/>
          </a:xfrm>
        </p:spPr>
        <p:txBody>
          <a:bodyPr>
            <a:normAutofit/>
          </a:bodyPr>
          <a:lstStyle/>
          <a:p>
            <a:r>
              <a:rPr lang="en-US" altLang="ko-KR" sz="2400" dirty="0" err="1"/>
              <a:t>IntWrite</a:t>
            </a:r>
            <a:r>
              <a:rPr lang="en-US" altLang="ko-KR" sz="2400" dirty="0"/>
              <a:t> should inserts a new function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altLang="ko-KR" sz="2400" dirty="0"/>
              <a:t> at the beginning of the target program’s main function</a:t>
            </a:r>
          </a:p>
          <a:p>
            <a:pPr lvl="1"/>
            <a:r>
              <a:rPr lang="en-US" altLang="ko-KR" sz="2000" dirty="0"/>
              <a:t>_</a:t>
            </a:r>
            <a:r>
              <a:rPr lang="en-US" altLang="ko-KR" sz="2000" dirty="0" err="1"/>
              <a:t>init</a:t>
            </a:r>
            <a:r>
              <a:rPr lang="en-US" altLang="ko-KR" sz="2000" dirty="0"/>
              <a:t>_() is to open an output file</a:t>
            </a:r>
            <a:endParaRPr lang="ko-KR" altLang="en-US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58F36-73D1-42A4-810C-3A0B46445EF9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LLVM Pass and Code Instrumentation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994179" y="3463436"/>
            <a:ext cx="3207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033CC"/>
                </a:solidFill>
                <a:latin typeface="Calibri" panose="020F0502020204030204" pitchFamily="34" charset="0"/>
              </a:rPr>
              <a:t>check if _</a:t>
            </a:r>
            <a:r>
              <a:rPr lang="en-US" altLang="ko-KR" dirty="0" err="1">
                <a:solidFill>
                  <a:srgbClr val="0033CC"/>
                </a:solidFill>
                <a:latin typeface="Calibri" panose="020F0502020204030204" pitchFamily="34" charset="0"/>
              </a:rPr>
              <a:t>init</a:t>
            </a:r>
            <a:r>
              <a:rPr lang="en-US" altLang="ko-KR" dirty="0">
                <a:solidFill>
                  <a:srgbClr val="0033CC"/>
                </a:solidFill>
                <a:latin typeface="Calibri" panose="020F0502020204030204" pitchFamily="34" charset="0"/>
              </a:rPr>
              <a:t>_() already exists</a:t>
            </a:r>
            <a:endParaRPr lang="ko-KR" altLang="en-US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38922" y="4873714"/>
            <a:ext cx="2990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0033CC"/>
                </a:solidFill>
                <a:latin typeface="Calibri" panose="020F0502020204030204" pitchFamily="34" charset="0"/>
              </a:rPr>
              <a:t>add a new declaration _</a:t>
            </a:r>
            <a:r>
              <a:rPr lang="en-US" altLang="ko-KR" dirty="0" err="1">
                <a:solidFill>
                  <a:srgbClr val="0033CC"/>
                </a:solidFill>
                <a:latin typeface="Calibri" panose="020F0502020204030204" pitchFamily="34" charset="0"/>
              </a:rPr>
              <a:t>init</a:t>
            </a:r>
            <a:r>
              <a:rPr lang="en-US" altLang="ko-KR" dirty="0">
                <a:solidFill>
                  <a:srgbClr val="0033CC"/>
                </a:solidFill>
                <a:latin typeface="Calibri" panose="020F0502020204030204" pitchFamily="34" charset="0"/>
              </a:rPr>
              <a:t>_()</a:t>
            </a:r>
            <a:endParaRPr lang="ko-KR" altLang="en-US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AFD96D-275F-08C7-E6D0-08E1EFF740F7}"/>
              </a:ext>
            </a:extLst>
          </p:cNvPr>
          <p:cNvSpPr txBox="1"/>
          <p:nvPr/>
        </p:nvSpPr>
        <p:spPr>
          <a:xfrm>
            <a:off x="755576" y="2422989"/>
            <a:ext cx="8210454" cy="3135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ko-KR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doInitialization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.getFunction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StringRef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!= </a:t>
            </a:r>
            <a:r>
              <a:rPr lang="ko-KR" altLang="ko-KR" sz="1600" b="0" dirty="0">
                <a:solidFill>
                  <a:srgbClr val="BD63C5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errs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_() 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already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.\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lnSpc>
                <a:spcPct val="113095"/>
              </a:lnSpc>
              <a:buNone/>
            </a:pP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113095"/>
              </a:lnSpc>
              <a:buNone/>
            </a:pP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  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dirty="0">
                <a:solidFill>
                  <a:srgbClr val="2B91AF"/>
                </a:solidFill>
                <a:latin typeface="Consolas" panose="020B0609020204030204" pitchFamily="49" charset="0"/>
              </a:rPr>
              <a:t>   </a:t>
            </a:r>
            <a:r>
              <a:rPr lang="en-US" altLang="ko-KR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FunctionType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fty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FunctionType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Type</a:t>
            </a:r>
            <a:r>
              <a:rPr lang="ko-KR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ko-KR" altLang="ko-K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getVoidTy</a:t>
            </a:r>
            <a:r>
              <a:rPr lang="ko-KR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ko-KR" altLang="ko-K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ctx</a:t>
            </a:r>
            <a:r>
              <a:rPr lang="ko-KR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113095"/>
              </a:lnSpc>
              <a:buNone/>
            </a:pPr>
            <a:r>
              <a:rPr lang="ko-KR" alt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p_init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.getOrInsertFunction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fty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...</a:t>
            </a:r>
            <a:b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endParaRPr lang="en-US" altLang="ko-K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ko-KR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doI</a:t>
            </a:r>
            <a:r>
              <a:rPr lang="ko-KR" altLang="ko-KR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nitialization</a:t>
            </a:r>
            <a:r>
              <a:rPr lang="ko-KR" altLang="ko-KR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ko-KR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77F915-E364-CCDA-34BC-9317F40C2DA6}"/>
              </a:ext>
            </a:extLst>
          </p:cNvPr>
          <p:cNvSpPr txBox="1"/>
          <p:nvPr/>
        </p:nvSpPr>
        <p:spPr>
          <a:xfrm>
            <a:off x="339032" y="2422989"/>
            <a:ext cx="527214" cy="3135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effectLst/>
                <a:latin typeface="Consolas" panose="020B0609020204030204" pitchFamily="49" charset="0"/>
              </a:rPr>
              <a:t>01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dirty="0">
                <a:latin typeface="Consolas" panose="020B0609020204030204" pitchFamily="49" charset="0"/>
              </a:rPr>
              <a:t>02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effectLst/>
                <a:latin typeface="Consolas" panose="020B0609020204030204" pitchFamily="49" charset="0"/>
              </a:rPr>
              <a:t>03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dirty="0">
                <a:latin typeface="Consolas" panose="020B0609020204030204" pitchFamily="49" charset="0"/>
              </a:rPr>
              <a:t>04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effectLst/>
                <a:latin typeface="Consolas" panose="020B0609020204030204" pitchFamily="49" charset="0"/>
              </a:rPr>
              <a:t>05</a:t>
            </a:r>
          </a:p>
          <a:p>
            <a:pPr>
              <a:lnSpc>
                <a:spcPct val="113095"/>
              </a:lnSpc>
              <a:buNone/>
            </a:pPr>
            <a:endParaRPr lang="en-US" altLang="ko-KR" sz="1600" dirty="0"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effectLst/>
                <a:latin typeface="Consolas" panose="020B0609020204030204" pitchFamily="49" charset="0"/>
              </a:rPr>
              <a:t>07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dirty="0">
                <a:latin typeface="Consolas" panose="020B0609020204030204" pitchFamily="49" charset="0"/>
              </a:rPr>
              <a:t>08</a:t>
            </a:r>
          </a:p>
          <a:p>
            <a:pPr>
              <a:lnSpc>
                <a:spcPct val="113095"/>
              </a:lnSpc>
              <a:buNone/>
            </a:pPr>
            <a:endParaRPr lang="en-US" altLang="ko-KR" sz="1600" b="0" dirty="0"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altLang="ko-KR" sz="1600" dirty="0">
                <a:latin typeface="Consolas" panose="020B0609020204030204" pitchFamily="49" charset="0"/>
              </a:rPr>
              <a:t>10</a:t>
            </a:r>
          </a:p>
          <a:p>
            <a:pPr>
              <a:lnSpc>
                <a:spcPct val="113095"/>
              </a:lnSpc>
              <a:buNone/>
            </a:pPr>
            <a:r>
              <a:rPr lang="en-US" altLang="ko-KR" sz="1600" b="0" dirty="0">
                <a:effectLst/>
                <a:latin typeface="Consolas" panose="020B0609020204030204" pitchFamily="49" charset="0"/>
              </a:rPr>
              <a:t>11</a:t>
            </a:r>
            <a:endParaRPr lang="ko-KR" altLang="ko-KR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144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 animBg="1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</a:t>
            </a:r>
            <a:r>
              <a:rPr lang="en-US" altLang="ko-KR" sz="3600" dirty="0"/>
              <a:t> Class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An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</a:t>
            </a:r>
            <a:r>
              <a:rPr lang="en-US" altLang="ko-KR" sz="2000" dirty="0"/>
              <a:t> </a:t>
            </a:r>
            <a:r>
              <a:rPr lang="en-US" altLang="ko-KR" sz="2400" dirty="0"/>
              <a:t>instance contains the information of an LLVM IR instruction.</a:t>
            </a:r>
          </a:p>
          <a:p>
            <a:r>
              <a:rPr lang="en-US" altLang="ko-KR" sz="2400" dirty="0"/>
              <a:t>Each type of instruction has a subclass of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</a:t>
            </a:r>
            <a:r>
              <a:rPr lang="en-US" altLang="ko-KR" sz="2400" dirty="0"/>
              <a:t> </a:t>
            </a:r>
            <a:br>
              <a:rPr lang="en-US" altLang="ko-KR" sz="2400" dirty="0"/>
            </a:br>
            <a:r>
              <a:rPr lang="en-US" altLang="ko-KR" sz="2400" dirty="0"/>
              <a:t>(e.g.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LoadInst</a:t>
            </a:r>
            <a:r>
              <a:rPr lang="en-US" altLang="ko-KR" sz="2400" dirty="0"/>
              <a:t>,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BranchInst</a:t>
            </a:r>
            <a:r>
              <a:rPr lang="en-US" altLang="ko-KR" sz="2400" dirty="0"/>
              <a:t>)</a:t>
            </a:r>
          </a:p>
          <a:p>
            <a:r>
              <a:rPr lang="en-US" altLang="ko-KR" sz="2400" dirty="0"/>
              <a:t>APIs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getOpcode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: returns the </a:t>
            </a:r>
            <a:r>
              <a:rPr lang="en-US" altLang="ko-KR" sz="2000" dirty="0" err="1"/>
              <a:t>opcode</a:t>
            </a:r>
            <a:r>
              <a:rPr lang="en-US" altLang="ko-KR" sz="2000" dirty="0"/>
              <a:t> which indicates the instruction type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getOperand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(unsigned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ko-KR" sz="2000" dirty="0"/>
              <a:t>: return the </a:t>
            </a:r>
            <a:r>
              <a:rPr lang="en-US" altLang="ko-KR" sz="2000" dirty="0" err="1"/>
              <a:t>i-th</a:t>
            </a:r>
            <a:r>
              <a:rPr lang="en-US" altLang="ko-KR" sz="2000" dirty="0"/>
              <a:t> operand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getDebugLoc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: obtain the debugging data that contains the information on the corresponding code location</a:t>
            </a:r>
          </a:p>
          <a:p>
            <a:pPr lvl="1"/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isTerminator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800" dirty="0">
                <a:cs typeface="Courier New" panose="02070309020205020404" pitchFamily="49" charset="0"/>
              </a:rPr>
              <a:t>,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isBinaryOp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800" dirty="0">
                <a:cs typeface="Courier New" panose="02070309020205020404" pitchFamily="49" charset="0"/>
              </a:rPr>
              <a:t> , 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isCast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(), ….</a:t>
            </a: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C9DBC-9593-47A2-B5E8-FC7D6578AEB3}" type="datetime1">
              <a:rPr lang="ko-KR" altLang="en-US" smtClean="0"/>
              <a:t>2026-09-28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41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620688"/>
            <a:ext cx="8229600" cy="72008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90872" y="1556792"/>
            <a:ext cx="8229600" cy="4248472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runOnBasicBlock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BasicBlock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&amp;B) {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for(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BasicBlock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::iterator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B.begin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B.end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if(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getOpcode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== Instruction::Store &amp;&amp;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getOperand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getType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Type::getInt32Ty(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StoreInst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dyn_cast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StoreInst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getDebugLoc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//code location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Value *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getPointerOperand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//variable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Value *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getOperand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altLang="ko-KR" sz="1600" b="1">
                <a:latin typeface="Courier New" panose="02070309020205020404" pitchFamily="49" charset="0"/>
                <a:cs typeface="Courier New" panose="02070309020205020404" pitchFamily="49" charset="0"/>
              </a:rPr>
              <a:t>// value   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/* insert a function call */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return true ;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184E8-BB3E-4DB2-8797-A631A6583AFF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208390" y="1591296"/>
            <a:ext cx="504056" cy="49224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01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02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03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04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05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06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07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08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09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0" indent="0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595431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How to Insert New Instructions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1704" y="1600200"/>
            <a:ext cx="8147248" cy="4525963"/>
          </a:xfrm>
        </p:spPr>
        <p:txBody>
          <a:bodyPr>
            <a:normAutofit/>
          </a:bodyPr>
          <a:lstStyle/>
          <a:p>
            <a:r>
              <a:rPr lang="en-US" altLang="ko-KR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IRBuilder</a:t>
            </a:r>
            <a:r>
              <a:rPr lang="en-US" altLang="ko-KR" sz="2400" dirty="0"/>
              <a:t> class provides a uniform API for inserting instructions to a basic block.</a:t>
            </a:r>
            <a:endParaRPr lang="en-US" altLang="ko-KR" sz="2000" dirty="0"/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IRBuilder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(Instruction *p)</a:t>
            </a:r>
            <a:r>
              <a:rPr lang="en-US" altLang="ko-KR" sz="2000" dirty="0"/>
              <a:t>: create an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IRBuilder</a:t>
            </a:r>
            <a:r>
              <a:rPr lang="en-US" altLang="ko-KR" sz="2000" dirty="0"/>
              <a:t> instance that can insert instructions </a:t>
            </a:r>
            <a:r>
              <a:rPr lang="en-US" altLang="ko-KR" sz="2000" b="1" u="sng" dirty="0"/>
              <a:t>right before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</a:t>
            </a:r>
            <a:r>
              <a:rPr lang="en-US" altLang="ko-KR" sz="2000" dirty="0">
                <a:cs typeface="Courier New" panose="02070309020205020404" pitchFamily="49" charset="0"/>
              </a:rPr>
              <a:t>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*p</a:t>
            </a:r>
          </a:p>
          <a:p>
            <a:r>
              <a:rPr lang="en-US" altLang="ko-KR" sz="2400" dirty="0">
                <a:cs typeface="Courier New" panose="02070309020205020404" pitchFamily="49" charset="0"/>
              </a:rPr>
              <a:t>APIs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CreateAdd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(Value *LHS, Value *RHS, …)</a:t>
            </a:r>
            <a:r>
              <a:rPr lang="en-US" altLang="ko-KR" sz="2000" dirty="0"/>
              <a:t>: create an add instruction whose operands are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LHS</a:t>
            </a:r>
            <a:r>
              <a:rPr lang="en-US" altLang="ko-KR" sz="2000" dirty="0"/>
              <a:t> and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RHS</a:t>
            </a:r>
            <a:r>
              <a:rPr lang="en-US" altLang="ko-KR" sz="2000" dirty="0"/>
              <a:t> at the predefined location, and then returns the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altLang="ko-KR" sz="2000" dirty="0"/>
              <a:t> instance of the target operand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CreateCall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(Value *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Callee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Value *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,…)</a:t>
            </a:r>
            <a:r>
              <a:rPr lang="en-US" altLang="ko-KR" sz="2000" dirty="0"/>
              <a:t>: add a new call instruction to function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Callee</a:t>
            </a:r>
            <a:r>
              <a:rPr lang="en-US" altLang="ko-KR" sz="2000" dirty="0"/>
              <a:t> with the argument as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</a:t>
            </a: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CreateSub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,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CreateMul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,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CreateAnd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, …</a:t>
            </a:r>
          </a:p>
          <a:p>
            <a:pPr lvl="1"/>
            <a:endParaRPr lang="en-US" altLang="ko-KR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59DA9-B4F7-48B0-A1D5-CB62833B14FA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4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altLang="ko-KR" dirty="0"/>
              <a:t> Class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A 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altLang="ko-KR" sz="2400" dirty="0"/>
              <a:t> is a super class of all entities in LLVM IR such as a constant, a register, a variable, and a function.</a:t>
            </a:r>
          </a:p>
          <a:p>
            <a:pPr lvl="1"/>
            <a:endParaRPr lang="ko-KR" altLang="en-US" sz="1100" dirty="0"/>
          </a:p>
          <a:p>
            <a:r>
              <a:rPr lang="en-US" altLang="ko-KR" sz="2400" dirty="0"/>
              <a:t>The register defined by an 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Instruction</a:t>
            </a:r>
            <a:r>
              <a:rPr lang="en-US" altLang="ko-KR" sz="2400" dirty="0"/>
              <a:t> is represented as </a:t>
            </a:r>
            <a:br>
              <a:rPr lang="en-US" altLang="ko-KR" sz="2400" dirty="0"/>
            </a:br>
            <a:r>
              <a:rPr lang="en-US" altLang="ko-KR" sz="2400" dirty="0"/>
              <a:t>a </a:t>
            </a:r>
            <a:r>
              <a:rPr lang="en-US" altLang="ko-K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altLang="ko-KR" sz="2400" dirty="0"/>
              <a:t> instance.</a:t>
            </a:r>
          </a:p>
          <a:p>
            <a:r>
              <a:rPr lang="en-US" altLang="ko-KR" sz="2400" dirty="0"/>
              <a:t>APIs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getType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: returns the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altLang="ko-KR" sz="2000" dirty="0"/>
              <a:t> instance of a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altLang="ko-KR" sz="2000" dirty="0"/>
              <a:t> instance.</a:t>
            </a:r>
          </a:p>
          <a:p>
            <a:pPr lvl="1"/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getName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sz="2000" dirty="0"/>
              <a:t>: return the name from the source code.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CE6CA-B417-4451-A583-590DC41C4766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87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008112"/>
          </a:xfrm>
        </p:spPr>
        <p:txBody>
          <a:bodyPr>
            <a:normAutofit/>
          </a:bodyPr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340768"/>
            <a:ext cx="8568952" cy="496855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IRBuilder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&lt;&gt; * IRB;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b="1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00 if(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getOpcode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== Instruction::Store &amp;&amp;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01   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getOperand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(0)-&gt;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getType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== Type::getInt32Ty(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ctx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b="1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02   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StoreInst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dyn_cast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StoreInst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&gt;(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b="1" dirty="0">
              <a:solidFill>
                <a:schemeClr val="tx1">
                  <a:lumMod val="75000"/>
                  <a:lumOff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03   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getDebugLoc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(); //code location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04    Value * 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st-&gt;</a:t>
            </a:r>
            <a:r>
              <a:rPr lang="en-US" altLang="ko-KR" sz="16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getOperand</a:t>
            </a: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(0); // target register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05</a:t>
            </a:r>
            <a:endParaRPr lang="en-US" altLang="ko-KR" sz="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06    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IRB-&gt;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SetInsertPoint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(&amp;(*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07    Value *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[3] 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08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ConstantInt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::get(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intTy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loc, false) ;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09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 = 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IRB-&gt;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CreateGlobalString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funcname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11    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IRB-&gt;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CreateCall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p_probe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b="1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altLang="ko-KR" sz="16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Twine(""));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//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p_probe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should be created before by using </a:t>
            </a:r>
            <a:b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//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getOrInsertFunction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and target code should be compiled </a:t>
            </a:r>
            <a:b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// with the function definition pointed by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p_probe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.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// See IntWrite.cpp and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IntWrite.c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which contains the   </a:t>
            </a:r>
            <a:b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// definition of probe function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12 }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4601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605C5384-0FC4-1106-55D1-77F9AD04C49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5271470"/>
              </p:ext>
            </p:extLst>
          </p:nvPr>
        </p:nvGraphicFramePr>
        <p:xfrm>
          <a:off x="395536" y="680013"/>
          <a:ext cx="101441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포장기 셸 개체" showAsIcon="1" r:id="rId2" imgW="1014480" imgH="476280" progId="Package">
                  <p:embed/>
                </p:oleObj>
              </mc:Choice>
              <mc:Fallback>
                <p:oleObj name="포장기 셸 개체" showAsIcon="1" r:id="rId2" imgW="1014480" imgH="47628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5536" y="680013"/>
                        <a:ext cx="1014412" cy="476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개체 9">
            <a:extLst>
              <a:ext uri="{FF2B5EF4-FFF2-40B4-BE49-F238E27FC236}">
                <a16:creationId xmlns:a16="http://schemas.microsoft.com/office/drawing/2014/main" id="{0B2FEA3D-6B37-D2B6-5E87-2F014366BB0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4930503"/>
              </p:ext>
            </p:extLst>
          </p:nvPr>
        </p:nvGraphicFramePr>
        <p:xfrm>
          <a:off x="520552" y="1797913"/>
          <a:ext cx="687387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포장기 셸 개체" showAsIcon="1" r:id="rId4" imgW="687960" imgH="476280" progId="Package">
                  <p:embed/>
                </p:oleObj>
              </mc:Choice>
              <mc:Fallback>
                <p:oleObj name="포장기 셸 개체" showAsIcon="1" r:id="rId4" imgW="687960" imgH="47628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20552" y="1797913"/>
                        <a:ext cx="687387" cy="476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ED6185-2D68-9D11-7311-3B9808FCF41C}"/>
              </a:ext>
            </a:extLst>
          </p:cNvPr>
          <p:cNvGrpSpPr/>
          <p:nvPr/>
        </p:nvGrpSpPr>
        <p:grpSpPr>
          <a:xfrm>
            <a:off x="323528" y="436183"/>
            <a:ext cx="8680986" cy="864096"/>
            <a:chOff x="395536" y="332656"/>
            <a:chExt cx="8680986" cy="8640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FE4A-DB3E-13B7-2AAF-F65F0D489426}"/>
                </a:ext>
              </a:extLst>
            </p:cNvPr>
            <p:cNvSpPr txBox="1"/>
            <p:nvPr/>
          </p:nvSpPr>
          <p:spPr>
            <a:xfrm>
              <a:off x="1619672" y="476672"/>
              <a:ext cx="745685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>
                  <a:solidFill>
                    <a:schemeClr val="bg1">
                      <a:lumMod val="65000"/>
                    </a:schemeClr>
                  </a:solidFill>
                </a:rPr>
                <a:t>LLVM Fuction pass to monitor writing integer values at runtime</a:t>
              </a:r>
            </a:p>
            <a:p>
              <a:r>
                <a:rPr lang="en-US" altLang="ko-KR">
                  <a:solidFill>
                    <a:schemeClr val="bg1">
                      <a:lumMod val="65000"/>
                    </a:schemeClr>
                  </a:solidFill>
                </a:rPr>
                <a:t>- </a:t>
              </a:r>
              <a:r>
                <a:rPr lang="en-US" altLang="ko-KR" sz="1800">
                  <a:solidFill>
                    <a:schemeClr val="bg1">
                      <a:lumMod val="65000"/>
                    </a:schemeClr>
                  </a:solidFill>
                  <a:effectLst/>
                  <a:latin typeface="Calibri" panose="020F0502020204030204" pitchFamily="34" charset="0"/>
                  <a:ea typeface="맑은 고딕" panose="020B0503020000020004" pitchFamily="50" charset="-127"/>
                  <a:cs typeface="Courier New" panose="02070309020205020404" pitchFamily="49" charset="0"/>
                </a:rPr>
                <a:t>Pass is compiled as a shared library and stored in the LLVM library directory </a:t>
              </a:r>
              <a:endParaRPr lang="ko-KR" altLang="en-US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C155B6B-DD7D-95BB-A9EC-5DF9D50B2063}"/>
                </a:ext>
              </a:extLst>
            </p:cNvPr>
            <p:cNvSpPr/>
            <p:nvPr/>
          </p:nvSpPr>
          <p:spPr>
            <a:xfrm>
              <a:off x="395536" y="332656"/>
              <a:ext cx="8568952" cy="8640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89C7A70-E07B-6EB0-A6DF-77B23BC077D0}"/>
              </a:ext>
            </a:extLst>
          </p:cNvPr>
          <p:cNvGrpSpPr/>
          <p:nvPr/>
        </p:nvGrpSpPr>
        <p:grpSpPr>
          <a:xfrm>
            <a:off x="345852" y="1544109"/>
            <a:ext cx="8568952" cy="864096"/>
            <a:chOff x="417860" y="1440582"/>
            <a:chExt cx="8568952" cy="86409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F8062-486A-E98E-6B5F-FFBA7F8768E7}"/>
                </a:ext>
              </a:extLst>
            </p:cNvPr>
            <p:cNvSpPr txBox="1"/>
            <p:nvPr/>
          </p:nvSpPr>
          <p:spPr>
            <a:xfrm>
              <a:off x="1681334" y="1556792"/>
              <a:ext cx="672908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Runtime module that will be used by the pass</a:t>
              </a:r>
            </a:p>
            <a:p>
              <a:pPr marL="285750" indent="-285750">
                <a:buFontTx/>
                <a:buChar char="-"/>
              </a:pPr>
              <a:r>
                <a:rPr lang="en-US" altLang="ko-KR">
                  <a:latin typeface="Calibri" panose="020F0502020204030204" pitchFamily="34" charset="0"/>
                  <a:ea typeface="맑은 고딕" panose="020B0503020000020004" pitchFamily="50" charset="-127"/>
                  <a:cs typeface="Courier New" panose="02070309020205020404" pitchFamily="49" charset="0"/>
                </a:rPr>
                <a:t>Compiled as an object file and stored in the LLVM library directory </a:t>
              </a:r>
              <a:r>
                <a:rPr lang="en-US" altLang="ko-KR" sz="1800">
                  <a:effectLst/>
                  <a:latin typeface="Calibri" panose="020F0502020204030204" pitchFamily="34" charset="0"/>
                  <a:ea typeface="맑은 고딕" panose="020B0503020000020004" pitchFamily="50" charset="-127"/>
                  <a:cs typeface="Courier New" panose="02070309020205020404" pitchFamily="49" charset="0"/>
                </a:rPr>
                <a:t> </a:t>
              </a:r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B3E2DA7-8527-A88D-51F3-365F635AD4CA}"/>
                </a:ext>
              </a:extLst>
            </p:cNvPr>
            <p:cNvSpPr/>
            <p:nvPr/>
          </p:nvSpPr>
          <p:spPr>
            <a:xfrm>
              <a:off x="417860" y="1440582"/>
              <a:ext cx="8568952" cy="8640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76112FD5-B5EC-B8FD-020B-4D25C8FF922A}"/>
              </a:ext>
            </a:extLst>
          </p:cNvPr>
          <p:cNvSpPr txBox="1"/>
          <p:nvPr/>
        </p:nvSpPr>
        <p:spPr>
          <a:xfrm>
            <a:off x="323528" y="2697301"/>
            <a:ext cx="8591276" cy="33239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// intwrite-rt.c runtime module</a:t>
            </a:r>
          </a:p>
          <a:p>
            <a:endParaRPr lang="en-US" altLang="ko-KR" sz="1400" b="0">
              <a:solidFill>
                <a:srgbClr val="8599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altLang="ko-KR" sz="1400" b="0">
                <a:solidFill>
                  <a:srgbClr val="B58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altLang="ko-KR" sz="1400" b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altLang="ko-KR" sz="1400" b="0">
                <a:solidFill>
                  <a:srgbClr val="B58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&lt;stdlib.h&gt;</a:t>
            </a:r>
            <a:endParaRPr lang="en-US" altLang="ko-KR" sz="1400" b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FILE </a:t>
            </a:r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fp ;</a:t>
            </a:r>
          </a:p>
          <a:p>
            <a:b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_final_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fclose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(fp) ;}</a:t>
            </a:r>
          </a:p>
          <a:p>
            <a:b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_init_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{ fp </a:t>
            </a:r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fopen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"log"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"w"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;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atexit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(_final_) ;}</a:t>
            </a:r>
          </a:p>
          <a:p>
            <a:b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_probe_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line,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func, </a:t>
            </a:r>
            <a:r>
              <a:rPr lang="en-US" altLang="ko-KR" sz="1400" b="1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val) {</a:t>
            </a:r>
          </a:p>
          <a:p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(line</a:t>
            </a:r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!=-</a:t>
            </a:r>
            <a:r>
              <a:rPr lang="en-US" altLang="ko-KR" sz="1400" b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"Store value </a:t>
            </a:r>
            <a:r>
              <a:rPr lang="en-US" altLang="ko-KR" sz="1400" b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 in Function </a:t>
            </a:r>
            <a:r>
              <a:rPr lang="en-US" altLang="ko-KR" sz="1400" b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%s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, line </a:t>
            </a:r>
            <a:r>
              <a:rPr lang="en-US" altLang="ko-KR" sz="1400" b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%d\n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,val,func,line) ;</a:t>
            </a:r>
          </a:p>
          <a:p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(fp, 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"Store value </a:t>
            </a:r>
            <a:r>
              <a:rPr lang="en-US" altLang="ko-KR" sz="1400" b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 in unknown location</a:t>
            </a:r>
            <a:r>
              <a:rPr lang="en-US" altLang="ko-KR" sz="1400" b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400" b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 val) ;</a:t>
            </a:r>
          </a:p>
          <a:p>
            <a:r>
              <a:rPr lang="en-US" altLang="ko-KR" sz="1400" b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1782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31B3A45-48D4-6BBE-CAC1-F426696CD2AB}"/>
              </a:ext>
            </a:extLst>
          </p:cNvPr>
          <p:cNvSpPr txBox="1"/>
          <p:nvPr/>
        </p:nvSpPr>
        <p:spPr>
          <a:xfrm>
            <a:off x="302940" y="1628800"/>
            <a:ext cx="8424936" cy="45968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4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// intwrite-pass.cpp LLVM pass</a:t>
            </a:r>
          </a:p>
          <a:p>
            <a:endParaRPr lang="en-US" altLang="ko-KR" sz="1400" b="0" i="1" dirty="0">
              <a:solidFill>
                <a:srgbClr val="93A1A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1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en-US" altLang="ko-KR" b="1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b="1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1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PassInfoMixin</a:t>
            </a:r>
            <a:r>
              <a:rPr lang="en-US" altLang="ko-KR" b="1" dirty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1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en-US" altLang="ko-KR" b="1" dirty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1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{ ... }</a:t>
            </a:r>
            <a:endParaRPr lang="en-US" altLang="ko-KR" b="1" i="1" dirty="0">
              <a:solidFill>
                <a:srgbClr val="93A1A1"/>
              </a:solidFill>
              <a:effectLst/>
              <a:latin typeface="Consolas" panose="020B0609020204030204" pitchFamily="49" charset="0"/>
            </a:endParaRPr>
          </a:p>
          <a:p>
            <a:endParaRPr lang="en-US" altLang="ko-KR" sz="1400" b="0" i="1" dirty="0">
              <a:solidFill>
                <a:srgbClr val="93A1A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/* The code in the remaining part is to register this Pass to</a:t>
            </a:r>
            <a:endParaRPr lang="en-US" altLang="ko-KR" sz="14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 * LLVM Pass Manager such that LLVM/Clang can use it. */</a:t>
            </a:r>
            <a:endParaRPr lang="en-US" altLang="ko-KR" sz="14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extern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"C"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::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PassPluginLibraryInfo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llvmGetPassPluginInfo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ko-KR" altLang="ko-KR" sz="1400" b="0" dirty="0">
                <a:solidFill>
                  <a:srgbClr val="BD63C5"/>
                </a:solidFill>
                <a:effectLst/>
                <a:latin typeface="Consolas" panose="020B0609020204030204" pitchFamily="49" charset="0"/>
              </a:rPr>
              <a:t>LLVM_PLUGIN_API_VERSION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Plugin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API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version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IntWritePassPlugin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Plugin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ko-KR" altLang="ko-KR" sz="1400" b="0" dirty="0">
                <a:solidFill>
                  <a:srgbClr val="BD63C5"/>
                </a:solidFill>
                <a:effectLst/>
                <a:latin typeface="Consolas" panose="020B0609020204030204" pitchFamily="49" charset="0"/>
              </a:rPr>
              <a:t>LLVM_VERSION_STRING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LLVM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version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[](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PassBuilder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PB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module-level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pass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PB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.registerPipelineStartEPCallback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[](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ModulePassManager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MPM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OptimizationLevel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MPM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.addPass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});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}};</a:t>
            </a:r>
          </a:p>
          <a:p>
            <a:pPr>
              <a:lnSpc>
                <a:spcPct val="113095"/>
              </a:lnSpc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605C5384-0FC4-1106-55D1-77F9AD04C49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95536" y="680013"/>
          <a:ext cx="1014412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포장기 셸 개체" showAsIcon="1" r:id="rId2" imgW="1014480" imgH="476280" progId="Package">
                  <p:embed/>
                </p:oleObj>
              </mc:Choice>
              <mc:Fallback>
                <p:oleObj name="포장기 셸 개체" showAsIcon="1" r:id="rId2" imgW="1014480" imgH="476280" progId="Package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605C5384-0FC4-1106-55D1-77F9AD04C4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95536" y="680013"/>
                        <a:ext cx="1014412" cy="476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ED6185-2D68-9D11-7311-3B9808FCF41C}"/>
              </a:ext>
            </a:extLst>
          </p:cNvPr>
          <p:cNvGrpSpPr/>
          <p:nvPr/>
        </p:nvGrpSpPr>
        <p:grpSpPr>
          <a:xfrm>
            <a:off x="323528" y="436183"/>
            <a:ext cx="8680986" cy="864096"/>
            <a:chOff x="395536" y="332656"/>
            <a:chExt cx="8680986" cy="8640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FE4A-DB3E-13B7-2AAF-F65F0D489426}"/>
                </a:ext>
              </a:extLst>
            </p:cNvPr>
            <p:cNvSpPr txBox="1"/>
            <p:nvPr/>
          </p:nvSpPr>
          <p:spPr>
            <a:xfrm>
              <a:off x="1619672" y="476672"/>
              <a:ext cx="745685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LLVM Fuction pass to monitor writing integer values at runtime</a:t>
              </a:r>
            </a:p>
            <a:p>
              <a:r>
                <a:rPr lang="en-US" altLang="ko-KR"/>
                <a:t>- </a:t>
              </a:r>
              <a:r>
                <a:rPr lang="en-US" altLang="ko-KR" sz="1800">
                  <a:effectLst/>
                  <a:latin typeface="Calibri" panose="020F0502020204030204" pitchFamily="34" charset="0"/>
                  <a:ea typeface="맑은 고딕" panose="020B0503020000020004" pitchFamily="50" charset="-127"/>
                  <a:cs typeface="Courier New" panose="02070309020205020404" pitchFamily="49" charset="0"/>
                </a:rPr>
                <a:t>Pass is compiled as a shared library and stored in the LLVM library directory </a:t>
              </a:r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C155B6B-DD7D-95BB-A9EC-5DF9D50B2063}"/>
                </a:ext>
              </a:extLst>
            </p:cNvPr>
            <p:cNvSpPr/>
            <p:nvPr/>
          </p:nvSpPr>
          <p:spPr>
            <a:xfrm>
              <a:off x="395536" y="332656"/>
              <a:ext cx="8568952" cy="8640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31372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7738DC8-AD61-0FD1-CDD0-A7C9BFD2D263}"/>
              </a:ext>
            </a:extLst>
          </p:cNvPr>
          <p:cNvSpPr txBox="1"/>
          <p:nvPr/>
        </p:nvSpPr>
        <p:spPr>
          <a:xfrm>
            <a:off x="89756" y="116632"/>
            <a:ext cx="8964488" cy="63401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anchor="ctr" anchorCtr="0">
            <a:spAutoFit/>
          </a:bodyPr>
          <a:lstStyle/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PassInfoMixin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14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00FF"/>
                </a:solidFill>
                <a:latin typeface="Consolas" panose="020B0609020204030204" pitchFamily="49" charset="0"/>
              </a:rPr>
              <a:t>       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PreservedAnalyses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ModuleAnalysisManager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doInitialization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errs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initialization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intwrite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.\</a:t>
            </a:r>
            <a:r>
              <a:rPr lang="ko-KR" altLang="ko-K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ko-KR" altLang="ko-K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/*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Invoke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basic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block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under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 */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BasicBlock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BB :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(BB) ;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}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PreservedAnalyses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endParaRPr lang="en-US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doInitialization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BasicBlock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/*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invoked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each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basic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block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*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.*/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...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altLang="ko-KR" sz="1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       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These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variables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are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to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store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type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instances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for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primitive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ko-KR" altLang="ko-KR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ko-KR" altLang="ko-K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Type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intTy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ptrTy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voidTy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boolTy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;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ko-KR" altLang="ko-KR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ko-KR" altLang="ko-K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FunctionCallee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p_init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;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points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to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function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instance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of _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init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_.</a:t>
            </a:r>
            <a:endParaRPr lang="ko-KR" altLang="ko-KR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ko-KR" altLang="ko-K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FunctionCallee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p_probe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;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points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to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function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instance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 of _</a:t>
            </a:r>
            <a:r>
              <a:rPr lang="ko-KR" altLang="ko-KR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probe</a:t>
            </a:r>
            <a:r>
              <a:rPr lang="ko-KR" altLang="ko-KR" sz="1400" dirty="0">
                <a:solidFill>
                  <a:srgbClr val="008000"/>
                </a:solidFill>
                <a:latin typeface="Consolas" panose="020B0609020204030204" pitchFamily="49" charset="0"/>
              </a:rPr>
              <a:t>_.</a:t>
            </a:r>
            <a:endParaRPr lang="ko-KR" altLang="ko-KR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ko-KR" altLang="ko-KR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IRBuilder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&lt;&gt; </a:t>
            </a:r>
            <a:r>
              <a:rPr lang="ko-KR" altLang="ko-KR" sz="14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ko-KR" altLang="ko-KR" sz="1400" dirty="0">
                <a:solidFill>
                  <a:srgbClr val="000000"/>
                </a:solidFill>
                <a:latin typeface="Consolas" panose="020B0609020204030204" pitchFamily="49" charset="0"/>
              </a:rPr>
              <a:t> IRB;</a:t>
            </a:r>
            <a:endParaRPr lang="ko-KR" altLang="ko-K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</p:txBody>
      </p:sp>
    </p:spTree>
    <p:extLst>
      <p:ext uri="{BB962C8B-B14F-4D97-AF65-F5344CB8AC3E}">
        <p14:creationId xmlns:p14="http://schemas.microsoft.com/office/powerpoint/2010/main" val="4004904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BC9C66-3792-7FA8-516F-6106B27B6895}"/>
              </a:ext>
            </a:extLst>
          </p:cNvPr>
          <p:cNvSpPr txBox="1"/>
          <p:nvPr/>
        </p:nvSpPr>
        <p:spPr>
          <a:xfrm>
            <a:off x="179512" y="79757"/>
            <a:ext cx="8208912" cy="65833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buNone/>
            </a:pP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doInitialization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check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there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program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that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conflicts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probe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functions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StringRef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!= </a:t>
            </a:r>
            <a:r>
              <a:rPr lang="ko-KR" altLang="ko-KR" sz="1200" b="0" dirty="0">
                <a:solidFill>
                  <a:srgbClr val="BD63C5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95000"/>
              </a:lnSpc>
              <a:buNone/>
            </a:pP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2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_()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already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.\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StringRef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probe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!= </a:t>
            </a:r>
            <a:r>
              <a:rPr lang="ko-KR" altLang="ko-KR" sz="1200" b="0" dirty="0">
                <a:solidFill>
                  <a:srgbClr val="BD63C5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errs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2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already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exists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.\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95000"/>
              </a:lnSpc>
              <a:buNone/>
            </a:pPr>
            <a:endParaRPr lang="en-US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</a:pP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    /*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store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the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type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instances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for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primitive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8000"/>
                </a:solidFill>
                <a:latin typeface="Consolas" panose="020B0609020204030204" pitchFamily="49" charset="0"/>
              </a:rPr>
              <a:t>types</a:t>
            </a:r>
            <a:r>
              <a:rPr lang="ko-KR" altLang="ko-KR" sz="1200" dirty="0">
                <a:solidFill>
                  <a:srgbClr val="008000"/>
                </a:solidFill>
                <a:latin typeface="Consolas" panose="020B0609020204030204" pitchFamily="49" charset="0"/>
              </a:rPr>
              <a:t> */</a:t>
            </a:r>
            <a:endParaRPr lang="ko-KR" altLang="ko-KR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llvm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LLVMContext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.getContext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::getInt32Ty(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PointerType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voidTy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getVoidTy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boolTy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::getInt1Ty(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5000"/>
              </a:lnSpc>
              <a:buNone/>
            </a:pP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declaration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which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has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no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voidTy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p_init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.getOrInsertFunction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5000"/>
              </a:lnSpc>
              <a:buNone/>
            </a:pP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declaration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probe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which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three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arguments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i.e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.,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*, and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*/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args_types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args_types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::getInt32Ty(*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;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args_types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ptrTy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::getInt8PtrTy(*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;    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args_types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::getInt32Ty(*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;  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p_probe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.getOrInsertFunction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"_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probe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_"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voidTy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ArrayRef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*&gt;(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args_types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;</a:t>
            </a:r>
          </a:p>
          <a:p>
            <a:pPr>
              <a:lnSpc>
                <a:spcPct val="95000"/>
              </a:lnSpc>
              <a:buNone/>
            </a:pP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call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_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beginning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of 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*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*/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mainFunc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ko-KR" altLang="ko-KR" sz="1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.getFunction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StringRef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ko-KR" altLang="ko-KR" sz="1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</a:pPr>
            <a:r>
              <a:rPr lang="en-US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ko-KR" altLang="ko-KR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ko-KR" altLang="ko-KR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mainFunc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!= </a:t>
            </a:r>
            <a:r>
              <a:rPr lang="ko-KR" altLang="ko-KR" sz="1200" dirty="0">
                <a:solidFill>
                  <a:srgbClr val="BD63C5"/>
                </a:solidFill>
                <a:latin typeface="Consolas" panose="020B0609020204030204" pitchFamily="49" charset="0"/>
              </a:rPr>
              <a:t>NULL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  <a:r>
              <a:rPr lang="en-US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ko-KR" altLang="ko-KR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; }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IRB =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IRBuilder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&lt;&gt;(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95000"/>
              </a:lnSpc>
              <a:buNone/>
            </a:pPr>
            <a:r>
              <a:rPr lang="en-US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IRB-&gt;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SetInsertPoint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mainFunc</a:t>
            </a:r>
            <a:r>
              <a:rPr lang="en-US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getEntryBlock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getFirstNonPHIOrDbgOrLifetime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IRB-&gt;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CreateCall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p_init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{})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lnSpc>
                <a:spcPct val="95000"/>
              </a:lnSpc>
              <a:buNone/>
            </a:pPr>
            <a:r>
              <a:rPr lang="ko-KR" altLang="ko-KR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ko-KR" sz="12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doInitialization</a:t>
            </a:r>
            <a:r>
              <a:rPr lang="ko-KR" altLang="ko-KR" sz="12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ko-KR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7559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B4CC262E-14F9-C1AD-666E-80FED46826F3}"/>
              </a:ext>
            </a:extLst>
          </p:cNvPr>
          <p:cNvSpPr txBox="1"/>
          <p:nvPr/>
        </p:nvSpPr>
        <p:spPr>
          <a:xfrm>
            <a:off x="179512" y="44624"/>
            <a:ext cx="8640960" cy="67403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ko-KR" sz="1200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BasicBlock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B) {</a:t>
            </a: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    /* This function is invoked by </a:t>
            </a:r>
            <a:r>
              <a:rPr lang="en-US" altLang="ko-KR" sz="1200" b="0" i="1" dirty="0" err="1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runOnFunction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() for each basic block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    * in the function. Note that this is not invoked by LLVM and different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    * from </a:t>
            </a:r>
            <a:r>
              <a:rPr lang="en-US" altLang="ko-KR" sz="1200" b="0" i="1" dirty="0" err="1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runOnBasicBlock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() of </a:t>
            </a:r>
            <a:r>
              <a:rPr lang="en-US" altLang="ko-KR" sz="1200" b="0" i="1" dirty="0" err="1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BasicBlockPass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.*/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StringRef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funcname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DISubprogram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disubp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getParent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getSubprogram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disubp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funcname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disubp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BasicBlock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::iterator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;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;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        /* for each instruction of the basic block in order */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getOpcode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Instruction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::Store) {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getOperand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getType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intTy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StoreInst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st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dyn_cast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StoreInst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;</a:t>
            </a: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                /* add a function call to _probe_ right before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                * a store instruction on an integer variable. */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DebugLoc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debugloc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getDebugLoc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1" dirty="0">
                <a:solidFill>
                  <a:srgbClr val="586E7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loc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debugloc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{ loc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debugloc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(); }</a:t>
            </a: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Value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st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getOperand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;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// the value to be assigned.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IRB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SetInsertPoint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ct val="90000"/>
              </a:lnSpc>
            </a:pPr>
            <a:b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Value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] 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              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B4B16"/>
                </a:solidFill>
                <a:effectLst/>
                <a:latin typeface="Consolas" panose="020B0609020204030204" pitchFamily="49" charset="0"/>
              </a:rPr>
              <a:t>ConstantInt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intTy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 loc, </a:t>
            </a:r>
            <a:r>
              <a:rPr lang="en-US" altLang="ko-KR" sz="1200" b="0" dirty="0">
                <a:solidFill>
                  <a:srgbClr val="B589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;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// location of store instruction.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	     // create a new string constant of the </a:t>
            </a:r>
            <a:r>
              <a:rPr lang="en-US" altLang="ko-KR" sz="1200" i="1" dirty="0">
                <a:solidFill>
                  <a:srgbClr val="93A1A1"/>
                </a:solidFill>
                <a:latin typeface="Consolas" panose="020B0609020204030204" pitchFamily="49" charset="0"/>
              </a:rPr>
              <a:t>function</a:t>
            </a:r>
            <a:r>
              <a:rPr lang="ko-KR" altLang="en-US" sz="1200" i="1" dirty="0">
                <a:solidFill>
                  <a:srgbClr val="93A1A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name, and get the pointer to it.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IRB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CreateGlobalString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funcname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 ;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0" dirty="0">
                <a:solidFill>
                  <a:srgbClr val="D3368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;</a:t>
            </a:r>
            <a:r>
              <a:rPr lang="en-US" altLang="ko-KR" sz="1200" b="0" i="1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 // the value to be assigned to the variable.</a:t>
            </a:r>
            <a:endParaRPr lang="en-US" altLang="ko-KR" sz="1200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IRB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CreateCall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p_probe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Twine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)) 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    }   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90000"/>
              </a:lnSpc>
            </a:pP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89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;}</a:t>
            </a:r>
          </a:p>
        </p:txBody>
      </p:sp>
    </p:spTree>
    <p:extLst>
      <p:ext uri="{BB962C8B-B14F-4D97-AF65-F5344CB8AC3E}">
        <p14:creationId xmlns:p14="http://schemas.microsoft.com/office/powerpoint/2010/main" val="8032897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More Information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Writing an LLVM Pass</a:t>
            </a:r>
          </a:p>
          <a:p>
            <a:pPr lvl="1"/>
            <a:r>
              <a:rPr lang="en-US" altLang="ko-KR" sz="2000" dirty="0">
                <a:hlinkClick r:id="rId2"/>
              </a:rPr>
              <a:t>https://llvm.org/docs/WritingAnLLVMNewPMPass.html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LLVM API Documentation</a:t>
            </a:r>
          </a:p>
          <a:p>
            <a:pPr lvl="1"/>
            <a:r>
              <a:rPr lang="en-US" altLang="ko-KR" sz="2000" dirty="0"/>
              <a:t>http://llvm.org/doxygen/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75BFC-DB8E-4049-BA8F-439697D40BA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LLVM Pass and Code Instrumentation</a:t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3890838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 n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ecture">
      <a:majorFont>
        <a:latin typeface="Arial"/>
        <a:ea typeface="맑은 고딕"/>
        <a:cs typeface=""/>
      </a:majorFont>
      <a:minorFont>
        <a:latin typeface="Times New Roman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 note</Template>
  <TotalTime>3390</TotalTime>
  <Words>3282</Words>
  <Application>Microsoft Office PowerPoint</Application>
  <PresentationFormat>화면 슬라이드 쇼(4:3)</PresentationFormat>
  <Paragraphs>432</Paragraphs>
  <Slides>20</Slides>
  <Notes>4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맑은 고딕</vt:lpstr>
      <vt:lpstr>Arial</vt:lpstr>
      <vt:lpstr>Calibri</vt:lpstr>
      <vt:lpstr>Consolas</vt:lpstr>
      <vt:lpstr>Courier New</vt:lpstr>
      <vt:lpstr>Times New Roman</vt:lpstr>
      <vt:lpstr>Lecture note</vt:lpstr>
      <vt:lpstr>Office Theme</vt:lpstr>
      <vt:lpstr>포장기 셸 개체</vt:lpstr>
      <vt:lpstr>LLVM Pass and Code Instrumentation</vt:lpstr>
      <vt:lpstr>Motivating Example</vt:lpstr>
      <vt:lpstr>Pass in LLVM</vt:lpstr>
      <vt:lpstr>Control Flow Graph (CFG) at LLVM IR </vt:lpstr>
      <vt:lpstr>Example Pass</vt:lpstr>
      <vt:lpstr>Module Class</vt:lpstr>
      <vt:lpstr>Type Class</vt:lpstr>
      <vt:lpstr>PassInfoMixin Class (1/2)</vt:lpstr>
      <vt:lpstr>Example</vt:lpstr>
      <vt:lpstr>Instruction Class</vt:lpstr>
      <vt:lpstr>Example</vt:lpstr>
      <vt:lpstr>How to Insert New Instructions</vt:lpstr>
      <vt:lpstr>Value Class</vt:lpstr>
      <vt:lpstr>Example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More Information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hongshin</dc:creator>
  <cp:lastModifiedBy>Ahcheong Lee</cp:lastModifiedBy>
  <cp:revision>497</cp:revision>
  <cp:lastPrinted>2015-10-26T23:01:18Z</cp:lastPrinted>
  <dcterms:created xsi:type="dcterms:W3CDTF">2014-09-27T07:04:29Z</dcterms:created>
  <dcterms:modified xsi:type="dcterms:W3CDTF">2026-09-28T06:29:56Z</dcterms:modified>
</cp:coreProperties>
</file>