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61" r:id="rId5"/>
    <p:sldId id="262" r:id="rId6"/>
    <p:sldId id="263" r:id="rId7"/>
    <p:sldId id="264" r:id="rId8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1" d="100"/>
          <a:sy n="111" d="100"/>
        </p:scale>
        <p:origin x="1267" y="8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068FC9-2CB9-4F58-B590-0E9E9C60F171}" type="datetimeFigureOut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2D68FA-8B05-4591-B9CF-BC3D158932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5934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C1E5B-1440-4A4A-8DF0-1C76AED34ED3}" type="datetime1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68353-B0A7-475E-93BE-007D0D4F45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71753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90247-ED09-491E-9F92-3742F511CFC8}" type="datetime1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68353-B0A7-475E-93BE-007D0D4F45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47881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67775-ECFF-4A44-8BAD-15720A34ABC3}" type="datetime1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68353-B0A7-475E-93BE-007D0D4F45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49850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A8856C-C2BE-4981-BE8A-00CAC036F868}" type="datetime1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68353-B0A7-475E-93BE-007D0D4F45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23126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9B307-D33C-45BD-A159-11DB3B155C98}" type="datetime1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68353-B0A7-475E-93BE-007D0D4F45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13999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2340E-7067-4868-A810-2E66E459D1CD}" type="datetime1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68353-B0A7-475E-93BE-007D0D4F45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05922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23144-ECEF-4D04-AEDE-5CFBE93D314E}" type="datetime1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68353-B0A7-475E-93BE-007D0D4F45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26705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6FA8D-8EF8-46F6-B0E3-0ABE0E4BBBCA}" type="datetime1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68353-B0A7-475E-93BE-007D0D4F45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15123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66A0D-6E36-4F97-8697-CFF1DBB97C3B}" type="datetime1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68353-B0A7-475E-93BE-007D0D4F45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75986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4A31D-7202-4B17-8E16-002C43DE5C00}" type="datetime1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68353-B0A7-475E-93BE-007D0D4F45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52357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0A112-8C65-4C3A-B03A-E06521E1C1BC}" type="datetime1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68353-B0A7-475E-93BE-007D0D4F45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03088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C541EC-C1EF-4938-AE56-36A905BCF859}" type="datetime1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968353-B0A7-475E-93BE-007D0D4F45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398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>
                <a:latin typeface="Calibri" panose="020F0502020204030204" pitchFamily="34" charset="0"/>
              </a:rPr>
              <a:t>Clang </a:t>
            </a:r>
            <a:r>
              <a:rPr lang="en-US" altLang="ko-KR" dirty="0" err="1">
                <a:latin typeface="Calibri" panose="020F0502020204030204" pitchFamily="34" charset="0"/>
              </a:rPr>
              <a:t>v.s</a:t>
            </a:r>
            <a:r>
              <a:rPr lang="en-US" altLang="ko-KR" dirty="0">
                <a:latin typeface="Calibri" panose="020F0502020204030204" pitchFamily="34" charset="0"/>
              </a:rPr>
              <a:t>. LLVM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ko-KR" dirty="0" err="1"/>
              <a:t>Moonzoo</a:t>
            </a:r>
            <a:r>
              <a:rPr lang="en-US" altLang="ko-KR" dirty="0"/>
              <a:t> Kim</a:t>
            </a:r>
          </a:p>
          <a:p>
            <a:r>
              <a:rPr lang="en-US" altLang="ko-KR" dirty="0"/>
              <a:t>Software Testing and </a:t>
            </a:r>
            <a:r>
              <a:rPr lang="en-US" altLang="ko-KR" dirty="0" err="1"/>
              <a:t>Verificaton</a:t>
            </a:r>
            <a:r>
              <a:rPr lang="en-US" altLang="ko-KR" dirty="0"/>
              <a:t> </a:t>
            </a:r>
            <a:r>
              <a:rPr lang="en-US" altLang="ko-KR"/>
              <a:t>(SWTV) group </a:t>
            </a:r>
            <a:endParaRPr lang="en-US" altLang="ko-KR" dirty="0"/>
          </a:p>
          <a:p>
            <a:r>
              <a:rPr lang="en-US" altLang="ko-KR" dirty="0"/>
              <a:t>CS Dept. KAIST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46A74-6294-439E-95F4-12C1F180349B}" type="datetime1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68353-B0A7-475E-93BE-007D0D4F4505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71896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1143000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Calibri" panose="020F0502020204030204" pitchFamily="34" charset="0"/>
              </a:rPr>
              <a:t>Comparison of Clang and LLVM</a:t>
            </a:r>
            <a:endParaRPr lang="ko-KR" altLang="en-US" dirty="0">
              <a:latin typeface="Calibri" panose="020F0502020204030204" pitchFamily="34" charset="0"/>
            </a:endParaRPr>
          </a:p>
        </p:txBody>
      </p:sp>
      <p:graphicFrame>
        <p:nvGraphicFramePr>
          <p:cNvPr id="4" name="내용 개체 틀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95554050"/>
              </p:ext>
            </p:extLst>
          </p:nvPr>
        </p:nvGraphicFramePr>
        <p:xfrm>
          <a:off x="251520" y="1268760"/>
          <a:ext cx="8712968" cy="5285405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535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886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886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0543"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Calibri" panose="020F050202020403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Calibri" panose="020F0502020204030204" pitchFamily="34" charset="0"/>
                        </a:rPr>
                        <a:t>Clang</a:t>
                      </a:r>
                      <a:endParaRPr lang="ko-KR" altLang="en-US" dirty="0">
                        <a:latin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Calibri" panose="020F0502020204030204" pitchFamily="34" charset="0"/>
                        </a:rPr>
                        <a:t>LLVM</a:t>
                      </a:r>
                      <a:endParaRPr lang="ko-KR" altLang="en-US" dirty="0">
                        <a:latin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1810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Calibri" panose="020F0502020204030204" pitchFamily="34" charset="0"/>
                        </a:rPr>
                        <a:t>Pros</a:t>
                      </a:r>
                      <a:endParaRPr lang="ko-KR" altLang="en-US" dirty="0">
                        <a:latin typeface="Calibri" panose="020F050202020403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b="1" dirty="0">
                          <a:solidFill>
                            <a:srgbClr val="FF0000"/>
                          </a:solidFill>
                          <a:latin typeface="Calibri" panose="020F0502020204030204" pitchFamily="34" charset="0"/>
                        </a:rPr>
                        <a:t>Source code information</a:t>
                      </a:r>
                      <a:r>
                        <a:rPr lang="en-US" altLang="ko-KR" b="1" baseline="0" dirty="0">
                          <a:solidFill>
                            <a:srgbClr val="FF0000"/>
                          </a:solidFill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altLang="ko-KR" baseline="0" dirty="0">
                          <a:latin typeface="Calibri" panose="020F0502020204030204" pitchFamily="34" charset="0"/>
                        </a:rPr>
                        <a:t>(e.g., line/column number) </a:t>
                      </a:r>
                      <a:r>
                        <a:rPr lang="en-US" altLang="ko-KR" dirty="0">
                          <a:latin typeface="Calibri" panose="020F0502020204030204" pitchFamily="34" charset="0"/>
                        </a:rPr>
                        <a:t>is</a:t>
                      </a:r>
                      <a:r>
                        <a:rPr lang="en-US" altLang="ko-KR" baseline="0" dirty="0">
                          <a:latin typeface="Calibri" panose="020F0502020204030204" pitchFamily="34" charset="0"/>
                        </a:rPr>
                        <a:t> available</a:t>
                      </a:r>
                    </a:p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baseline="0" dirty="0">
                          <a:latin typeface="Calibri" panose="020F0502020204030204" pitchFamily="34" charset="0"/>
                        </a:rPr>
                        <a:t>Clang supports </a:t>
                      </a:r>
                      <a:r>
                        <a:rPr lang="en-US" altLang="ko-KR" b="1" baseline="0" dirty="0">
                          <a:solidFill>
                            <a:srgbClr val="FF0000"/>
                          </a:solidFill>
                          <a:latin typeface="Calibri" panose="020F0502020204030204" pitchFamily="34" charset="0"/>
                        </a:rPr>
                        <a:t>source-to-source transformation</a:t>
                      </a:r>
                    </a:p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endParaRPr lang="ko-KR" altLang="en-US" dirty="0">
                        <a:latin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dirty="0">
                          <a:latin typeface="Calibri" panose="020F0502020204030204" pitchFamily="34" charset="0"/>
                        </a:rPr>
                        <a:t>Complex</a:t>
                      </a:r>
                      <a:r>
                        <a:rPr lang="en-US" altLang="ko-KR" baseline="0" dirty="0">
                          <a:latin typeface="Calibri" panose="020F0502020204030204" pitchFamily="34" charset="0"/>
                        </a:rPr>
                        <a:t> high-level language semantics are lowered to relatively </a:t>
                      </a:r>
                      <a:r>
                        <a:rPr lang="en-US" altLang="ko-KR" b="1" baseline="0" dirty="0">
                          <a:solidFill>
                            <a:srgbClr val="FF0000"/>
                          </a:solidFill>
                          <a:latin typeface="Calibri" panose="020F0502020204030204" pitchFamily="34" charset="0"/>
                        </a:rPr>
                        <a:t>simple instructions</a:t>
                      </a:r>
                    </a:p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dirty="0">
                          <a:latin typeface="Calibri" panose="020F0502020204030204" pitchFamily="34" charset="0"/>
                        </a:rPr>
                        <a:t>An analysis</a:t>
                      </a:r>
                      <a:r>
                        <a:rPr lang="en-US" altLang="ko-KR" baseline="0" dirty="0">
                          <a:latin typeface="Calibri" panose="020F0502020204030204" pitchFamily="34" charset="0"/>
                        </a:rPr>
                        <a:t> tool using LLVM can be </a:t>
                      </a:r>
                      <a:r>
                        <a:rPr lang="en-US" altLang="ko-KR" b="1" baseline="0" dirty="0">
                          <a:solidFill>
                            <a:srgbClr val="FF0000"/>
                          </a:solidFill>
                          <a:latin typeface="Calibri" panose="020F0502020204030204" pitchFamily="34" charset="0"/>
                        </a:rPr>
                        <a:t>programming language independent</a:t>
                      </a:r>
                      <a:endParaRPr lang="ko-KR" altLang="en-US" b="1" dirty="0">
                        <a:solidFill>
                          <a:srgbClr val="FF0000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7186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Calibri" panose="020F0502020204030204" pitchFamily="34" charset="0"/>
                        </a:rPr>
                        <a:t>Cons</a:t>
                      </a:r>
                      <a:endParaRPr lang="ko-KR" altLang="en-US" dirty="0">
                        <a:latin typeface="Calibri" panose="020F050202020403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dirty="0">
                          <a:latin typeface="Calibri" panose="020F0502020204030204" pitchFamily="34" charset="0"/>
                        </a:rPr>
                        <a:t>A user</a:t>
                      </a:r>
                      <a:r>
                        <a:rPr lang="en-US" altLang="ko-KR" baseline="0" dirty="0">
                          <a:latin typeface="Calibri" panose="020F0502020204030204" pitchFamily="34" charset="0"/>
                        </a:rPr>
                        <a:t> should handle </a:t>
                      </a:r>
                      <a:r>
                        <a:rPr lang="en-US" altLang="ko-KR" b="1" baseline="0" dirty="0">
                          <a:solidFill>
                            <a:srgbClr val="FF0000"/>
                          </a:solidFill>
                          <a:latin typeface="Calibri" panose="020F0502020204030204" pitchFamily="34" charset="0"/>
                        </a:rPr>
                        <a:t>complex C/C++ language semantics </a:t>
                      </a:r>
                      <a:r>
                        <a:rPr lang="en-US" altLang="ko-KR" baseline="0" dirty="0">
                          <a:latin typeface="Calibri" panose="020F0502020204030204" pitchFamily="34" charset="0"/>
                        </a:rPr>
                        <a:t>(e.g., side effect, various AST node types)</a:t>
                      </a:r>
                      <a:endParaRPr lang="ko-KR" altLang="en-US" dirty="0">
                        <a:latin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b="1" dirty="0">
                          <a:solidFill>
                            <a:srgbClr val="FF0000"/>
                          </a:solidFill>
                          <a:latin typeface="Calibri" panose="020F0502020204030204" pitchFamily="34" charset="0"/>
                        </a:rPr>
                        <a:t>Source code information is lost</a:t>
                      </a:r>
                    </a:p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endParaRPr lang="ko-KR" altLang="en-US" dirty="0">
                        <a:latin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3803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Calibri" panose="020F0502020204030204" pitchFamily="34" charset="0"/>
                        </a:rPr>
                        <a:t>Application</a:t>
                      </a:r>
                      <a:endParaRPr lang="ko-KR" altLang="en-US" dirty="0">
                        <a:latin typeface="Calibri" panose="020F050202020403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dirty="0">
                          <a:latin typeface="Calibri" panose="020F0502020204030204" pitchFamily="34" charset="0"/>
                        </a:rPr>
                        <a:t>C’s undefined behavior checker</a:t>
                      </a:r>
                    </a:p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dirty="0">
                          <a:latin typeface="Calibri" panose="020F0502020204030204" pitchFamily="34" charset="0"/>
                        </a:rPr>
                        <a:t>Source code refactoring tool</a:t>
                      </a:r>
                    </a:p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dirty="0">
                          <a:latin typeface="Calibri" panose="020F0502020204030204" pitchFamily="34" charset="0"/>
                        </a:rPr>
                        <a:t>Source code browser</a:t>
                      </a:r>
                      <a:r>
                        <a:rPr lang="en-US" altLang="ko-KR" baseline="0" dirty="0"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altLang="ko-KR" dirty="0">
                          <a:latin typeface="Calibri" panose="020F0502020204030204" pitchFamily="34" charset="0"/>
                        </a:rPr>
                        <a:t>(e.g., Source Insight)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dirty="0">
                          <a:latin typeface="Calibri" panose="020F0502020204030204" pitchFamily="34" charset="0"/>
                        </a:rPr>
                        <a:t>Static analyzer for bug detection</a:t>
                      </a:r>
                    </a:p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dirty="0">
                          <a:latin typeface="Calibri" panose="020F0502020204030204" pitchFamily="34" charset="0"/>
                        </a:rPr>
                        <a:t>Test generator</a:t>
                      </a:r>
                    </a:p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dirty="0">
                          <a:latin typeface="Calibri" panose="020F0502020204030204" pitchFamily="34" charset="0"/>
                        </a:rPr>
                        <a:t>Runtime</a:t>
                      </a:r>
                      <a:r>
                        <a:rPr lang="en-US" altLang="ko-KR" baseline="0" dirty="0">
                          <a:latin typeface="Calibri" panose="020F0502020204030204" pitchFamily="34" charset="0"/>
                        </a:rPr>
                        <a:t> monitoring tool</a:t>
                      </a:r>
                      <a:endParaRPr lang="ko-KR" altLang="en-US" dirty="0">
                        <a:latin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1F909-8EE4-4484-82A2-2FD9F18F42EC}" type="datetime1">
              <a:rPr lang="ko-KR" altLang="en-US" smtClean="0">
                <a:latin typeface="Calibri" panose="020F0502020204030204" pitchFamily="34" charset="0"/>
              </a:rPr>
              <a:t>2026-09-22</a:t>
            </a:fld>
            <a:endParaRPr lang="ko-KR" altLang="en-US">
              <a:latin typeface="Calibri" panose="020F0502020204030204" pitchFamily="34" charset="0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68353-B0A7-475E-93BE-007D0D4F4505}" type="slidenum">
              <a:rPr lang="ko-KR" altLang="en-US" smtClean="0">
                <a:latin typeface="Calibri" panose="020F0502020204030204" pitchFamily="34" charset="0"/>
              </a:rPr>
              <a:t>2</a:t>
            </a:fld>
            <a:endParaRPr lang="ko-KR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03992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Calibri" panose="020F0502020204030204" pitchFamily="34" charset="0"/>
              </a:rPr>
              <a:t>An Example of Clang’s Use Cases</a:t>
            </a:r>
            <a:endParaRPr lang="ko-KR" altLang="en-US" dirty="0">
              <a:latin typeface="Calibri" panose="020F0502020204030204" pitchFamily="34" charset="0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340769"/>
            <a:ext cx="8229600" cy="2160240"/>
          </a:xfrm>
        </p:spPr>
        <p:txBody>
          <a:bodyPr>
            <a:normAutofit fontScale="92500" lnSpcReduction="10000"/>
          </a:bodyPr>
          <a:lstStyle/>
          <a:p>
            <a:r>
              <a:rPr lang="en-US" altLang="ko-KR" sz="2800" dirty="0">
                <a:latin typeface="Calibri" panose="020F0502020204030204" pitchFamily="34" charset="0"/>
              </a:rPr>
              <a:t>You need to use Clang to develop a checker for C/C++’s undefined behaviors in source code</a:t>
            </a:r>
          </a:p>
          <a:p>
            <a:pPr lvl="1"/>
            <a:r>
              <a:rPr lang="en-US" altLang="ko-KR" sz="2400" dirty="0">
                <a:latin typeface="Calibri" panose="020F0502020204030204" pitchFamily="34" charset="0"/>
              </a:rPr>
              <a:t>Undefined behaviors in C code will be removed in transformed LLVM IR</a:t>
            </a:r>
          </a:p>
          <a:p>
            <a:pPr lvl="1"/>
            <a:r>
              <a:rPr lang="en-US" altLang="ko-KR" sz="2400" dirty="0">
                <a:latin typeface="Calibri" panose="020F0502020204030204" pitchFamily="34" charset="0"/>
              </a:rPr>
              <a:t>Line 4 of C code containing an undefined behavior is transformed into well-defined LLVM instructions</a:t>
            </a:r>
          </a:p>
          <a:p>
            <a:endParaRPr lang="en-US" altLang="ko-KR" dirty="0">
              <a:latin typeface="Calibri" panose="020F0502020204030204" pitchFamily="34" charset="0"/>
            </a:endParaRPr>
          </a:p>
          <a:p>
            <a:endParaRPr lang="en-US" altLang="ko-KR" dirty="0">
              <a:latin typeface="Calibri" panose="020F0502020204030204" pitchFamily="34" charset="0"/>
            </a:endParaRPr>
          </a:p>
          <a:p>
            <a:endParaRPr lang="en-US" altLang="ko-KR" dirty="0">
              <a:latin typeface="Calibri" panose="020F050202020403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95536" y="4077072"/>
            <a:ext cx="3600400" cy="15696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Calibri" panose="020F0502020204030204" pitchFamily="34" charset="0"/>
                <a:cs typeface="Courier New" panose="02070309020205020404" pitchFamily="49" charset="0"/>
              </a:rPr>
              <a:t>C code</a:t>
            </a:r>
          </a:p>
          <a:p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1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example(){</a:t>
            </a:r>
          </a:p>
          <a:p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2  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a = 1, b;</a:t>
            </a:r>
          </a:p>
          <a:p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3   </a:t>
            </a: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 Undefined behavior</a:t>
            </a:r>
          </a:p>
          <a:p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4   </a:t>
            </a: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b = a++ + ++a;</a:t>
            </a:r>
          </a:p>
          <a:p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5   return b;}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2040" y="3501008"/>
            <a:ext cx="3744416" cy="329320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Calibri" panose="020F0502020204030204" pitchFamily="34" charset="0"/>
                <a:cs typeface="Courier New" panose="02070309020205020404" pitchFamily="49" charset="0"/>
              </a:rPr>
              <a:t>LLVM </a:t>
            </a:r>
            <a:r>
              <a:rPr lang="en-US" altLang="ko-KR" sz="1600" dirty="0" err="1">
                <a:latin typeface="Calibri" panose="020F0502020204030204" pitchFamily="34" charset="0"/>
                <a:cs typeface="Courier New" panose="02070309020205020404" pitchFamily="49" charset="0"/>
              </a:rPr>
              <a:t>bytecode</a:t>
            </a:r>
            <a:r>
              <a:rPr lang="en-US" altLang="ko-KR" sz="1600" dirty="0">
                <a:latin typeface="Calibri" panose="020F0502020204030204" pitchFamily="34" charset="0"/>
                <a:cs typeface="Courier New" panose="02070309020205020404" pitchFamily="49" charset="0"/>
              </a:rPr>
              <a:t> (Simplified version)</a:t>
            </a:r>
          </a:p>
          <a:p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1 define i32 @example() {</a:t>
            </a:r>
          </a:p>
          <a:p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2   store i32 1,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%a</a:t>
            </a:r>
          </a:p>
          <a:p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3   %1 = load i32,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%a</a:t>
            </a:r>
          </a:p>
          <a:p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4   %2 = add i32 %1, 1</a:t>
            </a:r>
          </a:p>
          <a:p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5   store i32 %2,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%a</a:t>
            </a:r>
          </a:p>
          <a:p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6   %3 = load i32,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%a</a:t>
            </a:r>
          </a:p>
          <a:p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7   %4 = add i32 %3, 1</a:t>
            </a:r>
          </a:p>
          <a:p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8   store i32 %4,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%a</a:t>
            </a:r>
          </a:p>
          <a:p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9   %5 = add i32 %1, %4</a:t>
            </a:r>
          </a:p>
          <a:p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10   store i32 %5,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%b</a:t>
            </a:r>
          </a:p>
          <a:p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11   %6 = load i32,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%b</a:t>
            </a:r>
          </a:p>
          <a:p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12   ret i32 %6 }</a:t>
            </a:r>
          </a:p>
        </p:txBody>
      </p:sp>
      <p:sp>
        <p:nvSpPr>
          <p:cNvPr id="7" name="오른쪽 화살표 6"/>
          <p:cNvSpPr/>
          <p:nvPr/>
        </p:nvSpPr>
        <p:spPr>
          <a:xfrm>
            <a:off x="4211960" y="4725144"/>
            <a:ext cx="504056" cy="432048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날짜 개체 틀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AAAB7-6ED6-42E5-9B61-97F35BB021DD}" type="datetime1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10" name="슬라이드 번호 개체 틀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68353-B0A7-475E-93BE-007D0D4F4505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31244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Calibri" panose="020F0502020204030204" pitchFamily="34" charset="0"/>
              </a:rPr>
              <a:t>An Example of LLVM’s Use Cases (1/3)</a:t>
            </a:r>
            <a:endParaRPr lang="ko-KR" altLang="en-US" dirty="0">
              <a:latin typeface="Calibri" panose="020F0502020204030204" pitchFamily="34" charset="0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5184576"/>
          </a:xfrm>
        </p:spPr>
        <p:txBody>
          <a:bodyPr>
            <a:normAutofit lnSpcReduction="10000"/>
          </a:bodyPr>
          <a:lstStyle/>
          <a:p>
            <a:r>
              <a:rPr lang="en-US" altLang="ko-KR" sz="2000" dirty="0">
                <a:latin typeface="Calibri" panose="020F0502020204030204" pitchFamily="34" charset="0"/>
              </a:rPr>
              <a:t>Using LLVM to develop a run-time checker by inserting assertions is easier than using Clang</a:t>
            </a:r>
          </a:p>
          <a:p>
            <a:pPr lvl="1"/>
            <a:r>
              <a:rPr lang="en-US" altLang="ko-KR" sz="1800" dirty="0">
                <a:latin typeface="Calibri" panose="020F0502020204030204" pitchFamily="34" charset="0"/>
              </a:rPr>
              <a:t>When we use Clang for analyzing C source code, we need to handle C’s complex language semantics including </a:t>
            </a:r>
            <a:r>
              <a:rPr lang="en-US" altLang="ko-KR" sz="1800" b="1" u="sng">
                <a:latin typeface="Calibri" panose="020F0502020204030204" pitchFamily="34" charset="0"/>
              </a:rPr>
              <a:t>side effects</a:t>
            </a:r>
          </a:p>
          <a:p>
            <a:pPr lvl="2"/>
            <a:r>
              <a:rPr lang="en-US" altLang="ko-KR" sz="1400">
                <a:latin typeface="Calibri" panose="020F0502020204030204" pitchFamily="34" charset="0"/>
              </a:rPr>
              <a:t>e.g.,</a:t>
            </a:r>
            <a:r>
              <a:rPr lang="ko-KR" altLang="en-US" sz="1400">
                <a:latin typeface="Calibri" panose="020F0502020204030204" pitchFamily="34" charset="0"/>
              </a:rPr>
              <a:t> </a:t>
            </a:r>
            <a:r>
              <a:rPr lang="en-US" altLang="ko-KR" sz="1400">
                <a:latin typeface="Calibri" panose="020F0502020204030204" pitchFamily="34" charset="0"/>
              </a:rPr>
              <a:t>union,</a:t>
            </a:r>
            <a:r>
              <a:rPr lang="ko-KR" altLang="en-US" sz="1400">
                <a:latin typeface="Calibri" panose="020F0502020204030204" pitchFamily="34" charset="0"/>
              </a:rPr>
              <a:t> </a:t>
            </a:r>
            <a:r>
              <a:rPr lang="en-US" altLang="ko-KR" sz="1400">
                <a:latin typeface="Calibri" panose="020F0502020204030204" pitchFamily="34" charset="0"/>
              </a:rPr>
              <a:t>bitfield,</a:t>
            </a:r>
            <a:r>
              <a:rPr lang="ko-KR" altLang="en-US" sz="1400">
                <a:latin typeface="Calibri" panose="020F0502020204030204" pitchFamily="34" charset="0"/>
              </a:rPr>
              <a:t> </a:t>
            </a:r>
            <a:r>
              <a:rPr lang="en-US" altLang="ko-KR" sz="1400">
                <a:latin typeface="Calibri" panose="020F0502020204030204" pitchFamily="34" charset="0"/>
              </a:rPr>
              <a:t>macros,</a:t>
            </a:r>
            <a:r>
              <a:rPr lang="ko-KR" altLang="en-US" sz="1400">
                <a:latin typeface="Calibri" panose="020F0502020204030204" pitchFamily="34" charset="0"/>
              </a:rPr>
              <a:t> </a:t>
            </a:r>
            <a:r>
              <a:rPr lang="en-US" altLang="ko-KR" sz="1400">
                <a:latin typeface="Calibri" panose="020F0502020204030204" pitchFamily="34" charset="0"/>
              </a:rPr>
              <a:t>etc.</a:t>
            </a:r>
            <a:endParaRPr lang="en-US" altLang="ko-KR" sz="1400" dirty="0">
              <a:latin typeface="Calibri" panose="020F0502020204030204" pitchFamily="34" charset="0"/>
            </a:endParaRPr>
          </a:p>
          <a:p>
            <a:r>
              <a:rPr lang="en-US" altLang="ko-KR" sz="2000" dirty="0">
                <a:latin typeface="Calibri" panose="020F0502020204030204" pitchFamily="34" charset="0"/>
              </a:rPr>
              <a:t>Suppose that we would like to do array bound checking by inserting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assert() </a:t>
            </a:r>
            <a:r>
              <a:rPr lang="en-US" altLang="ko-KR" sz="2000" dirty="0">
                <a:latin typeface="Calibri" panose="020F0502020204030204" pitchFamily="34" charset="0"/>
              </a:rPr>
              <a:t>before array accesses</a:t>
            </a:r>
          </a:p>
          <a:p>
            <a:pPr lvl="1"/>
            <a:r>
              <a:rPr lang="en-US" altLang="ko-KR" sz="1800" dirty="0">
                <a:latin typeface="Calibri" panose="020F0502020204030204" pitchFamily="34" charset="0"/>
              </a:rPr>
              <a:t>One possible solution is to use Clang to insert 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assert() </a:t>
            </a:r>
            <a:r>
              <a:rPr lang="en-US" altLang="ko-KR" sz="1800" dirty="0">
                <a:latin typeface="Calibri" panose="020F0502020204030204" pitchFamily="34" charset="0"/>
              </a:rPr>
              <a:t>to check array subscription expression can be greater than the size of array</a:t>
            </a:r>
          </a:p>
          <a:p>
            <a:pPr lvl="1"/>
            <a:endParaRPr lang="en-US" altLang="ko-KR" sz="1800" dirty="0">
              <a:latin typeface="Calibri" panose="020F0502020204030204" pitchFamily="34" charset="0"/>
            </a:endParaRPr>
          </a:p>
          <a:p>
            <a:pPr lvl="1"/>
            <a:endParaRPr lang="en-US" altLang="ko-KR" sz="1800" dirty="0">
              <a:latin typeface="Calibri" panose="020F0502020204030204" pitchFamily="34" charset="0"/>
            </a:endParaRPr>
          </a:p>
          <a:p>
            <a:pPr lvl="1"/>
            <a:endParaRPr lang="en-US" altLang="ko-KR" sz="1800" dirty="0">
              <a:latin typeface="Calibri" panose="020F0502020204030204" pitchFamily="34" charset="0"/>
            </a:endParaRPr>
          </a:p>
          <a:p>
            <a:pPr lvl="1"/>
            <a:endParaRPr lang="en-US" altLang="ko-KR" sz="1800" dirty="0">
              <a:latin typeface="Calibri" panose="020F0502020204030204" pitchFamily="34" charset="0"/>
            </a:endParaRPr>
          </a:p>
          <a:p>
            <a:pPr lvl="1"/>
            <a:endParaRPr lang="en-US" altLang="ko-KR" sz="1800" dirty="0">
              <a:latin typeface="Calibri" panose="020F0502020204030204" pitchFamily="34" charset="0"/>
            </a:endParaRPr>
          </a:p>
          <a:p>
            <a:endParaRPr lang="en-US" altLang="ko-KR" sz="2200" dirty="0">
              <a:latin typeface="Calibri" panose="020F0502020204030204" pitchFamily="34" charset="0"/>
            </a:endParaRPr>
          </a:p>
          <a:p>
            <a:r>
              <a:rPr lang="en-US" altLang="ko-KR" sz="2000" dirty="0">
                <a:latin typeface="Calibri" panose="020F0502020204030204" pitchFamily="34" charset="0"/>
              </a:rPr>
              <a:t>Will </a:t>
            </a:r>
            <a:r>
              <a:rPr lang="en-US" altLang="ko-KR" sz="2000">
                <a:latin typeface="Calibri" panose="020F0502020204030204" pitchFamily="34" charset="0"/>
              </a:rPr>
              <a:t>it be OK? </a:t>
            </a:r>
            <a:endParaRPr lang="en-US" altLang="ko-KR" sz="2000" dirty="0">
              <a:latin typeface="Calibri" panose="020F0502020204030204" pitchFamily="34" charset="0"/>
            </a:endParaRPr>
          </a:p>
        </p:txBody>
      </p:sp>
      <p:sp>
        <p:nvSpPr>
          <p:cNvPr id="9" name="날짜 개체 틀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AAAB7-6ED6-42E5-9B61-97F35BB021DD}" type="datetime1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10" name="슬라이드 번호 개체 틀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68353-B0A7-475E-93BE-007D0D4F4505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107504" y="3958024"/>
            <a:ext cx="4104456" cy="181588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Calibri" panose="020F0502020204030204" pitchFamily="34" charset="0"/>
                <a:cs typeface="Courier New" panose="02070309020205020404" pitchFamily="49" charset="0"/>
              </a:rPr>
              <a:t>An example program</a:t>
            </a:r>
          </a:p>
          <a:p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1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example(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x){</a:t>
            </a:r>
          </a:p>
          <a:p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2  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a[10], b[10];</a:t>
            </a:r>
          </a:p>
          <a:p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3   … omitted code …</a:t>
            </a:r>
          </a:p>
          <a:p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4   // Want to check array bound</a:t>
            </a:r>
          </a:p>
          <a:p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5   b[</a:t>
            </a: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++a[x++]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]=0; </a:t>
            </a:r>
          </a:p>
          <a:p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6 …}</a:t>
            </a:r>
            <a:endParaRPr lang="ko-KR" alt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860032" y="3939336"/>
            <a:ext cx="4104456" cy="181588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Calibri" panose="020F0502020204030204" pitchFamily="34" charset="0"/>
                <a:cs typeface="Courier New" panose="02070309020205020404" pitchFamily="49" charset="0"/>
              </a:rPr>
              <a:t>An instrumented program</a:t>
            </a:r>
          </a:p>
          <a:p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1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example(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*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a,int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x){</a:t>
            </a:r>
          </a:p>
          <a:p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2  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b[10];</a:t>
            </a:r>
          </a:p>
          <a:p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3   … omitted code …</a:t>
            </a:r>
          </a:p>
          <a:p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4   </a:t>
            </a: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assert(</a:t>
            </a:r>
            <a:r>
              <a:rPr lang="en-US" altLang="ko-KR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++a[x++]&lt;10</a:t>
            </a: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5   b[++a[x++]]=0;</a:t>
            </a:r>
          </a:p>
          <a:p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6 …}</a:t>
            </a:r>
            <a:endParaRPr lang="ko-KR" alt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오른쪽 화살표 7"/>
          <p:cNvSpPr/>
          <p:nvPr/>
        </p:nvSpPr>
        <p:spPr>
          <a:xfrm>
            <a:off x="4355976" y="4604032"/>
            <a:ext cx="360040" cy="360040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2103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Calibri" panose="020F0502020204030204" pitchFamily="34" charset="0"/>
              </a:rPr>
              <a:t>An Example of LLVM’s Use Cases (2/3)</a:t>
            </a:r>
            <a:endParaRPr lang="ko-KR" altLang="en-US" dirty="0">
              <a:latin typeface="Calibri" panose="020F0502020204030204" pitchFamily="34" charset="0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2952328"/>
          </a:xfrm>
        </p:spPr>
        <p:txBody>
          <a:bodyPr>
            <a:normAutofit/>
          </a:bodyPr>
          <a:lstStyle/>
          <a:p>
            <a:r>
              <a:rPr lang="en-US" altLang="ko-KR" sz="2000" dirty="0">
                <a:latin typeface="Calibri" panose="020F0502020204030204" pitchFamily="34" charset="0"/>
              </a:rPr>
              <a:t>The array subscription expression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++a[x++] </a:t>
            </a:r>
            <a:r>
              <a:rPr lang="en-US" altLang="ko-KR" sz="2000" dirty="0">
                <a:latin typeface="Calibri" panose="020F0502020204030204" pitchFamily="34" charset="0"/>
              </a:rPr>
              <a:t>has side effects </a:t>
            </a:r>
          </a:p>
          <a:p>
            <a:pPr lvl="1"/>
            <a:r>
              <a:rPr lang="en-US" altLang="ko-KR" sz="1600" dirty="0">
                <a:latin typeface="Calibri" panose="020F0502020204030204" pitchFamily="34" charset="0"/>
              </a:rPr>
              <a:t>Executing 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assert(++a[x++]) </a:t>
            </a:r>
            <a:r>
              <a:rPr lang="en-US" altLang="ko-KR" sz="1600" dirty="0">
                <a:latin typeface="Calibri" panose="020F0502020204030204" pitchFamily="34" charset="0"/>
              </a:rPr>
              <a:t>changes the value of 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altLang="ko-KR" sz="1600" dirty="0">
                <a:latin typeface="Calibri" panose="020F0502020204030204" pitchFamily="34" charset="0"/>
              </a:rPr>
              <a:t> and 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a[x]</a:t>
            </a:r>
          </a:p>
          <a:p>
            <a:pPr lvl="1"/>
            <a:r>
              <a:rPr lang="en-US" altLang="ko-KR" sz="1600" dirty="0">
                <a:latin typeface="Calibri" panose="020F0502020204030204" pitchFamily="34" charset="0"/>
              </a:rPr>
              <a:t>We should execute the array subscription expression once and store the result to use both </a:t>
            </a:r>
            <a:r>
              <a:rPr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assert() </a:t>
            </a:r>
            <a:r>
              <a:rPr lang="en-US" altLang="ko-KR" sz="1600" dirty="0">
                <a:latin typeface="Calibri" panose="020F0502020204030204" pitchFamily="34" charset="0"/>
              </a:rPr>
              <a:t>and array access</a:t>
            </a:r>
          </a:p>
          <a:p>
            <a:r>
              <a:rPr lang="en-US" altLang="ko-KR" sz="2000" dirty="0">
                <a:latin typeface="Calibri" panose="020F0502020204030204" pitchFamily="34" charset="0"/>
              </a:rPr>
              <a:t>In addition, we should do array bound check for the array subscription expression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++a[x++] </a:t>
            </a:r>
            <a:r>
              <a:rPr lang="en-US" altLang="ko-KR" sz="2000" dirty="0">
                <a:latin typeface="Calibri" panose="020F0502020204030204" pitchFamily="34" charset="0"/>
              </a:rPr>
              <a:t>itself.</a:t>
            </a:r>
          </a:p>
          <a:p>
            <a:r>
              <a:rPr lang="en-US" altLang="ko-KR" sz="2000" dirty="0">
                <a:latin typeface="Calibri" panose="020F0502020204030204" pitchFamily="34" charset="0"/>
              </a:rPr>
              <a:t>If we choose Clang to develop a run-time checker to insert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assert()</a:t>
            </a:r>
            <a:r>
              <a:rPr lang="en-US" altLang="ko-KR" sz="2000" dirty="0">
                <a:latin typeface="Calibri" panose="020F0502020204030204" pitchFamily="34" charset="0"/>
              </a:rPr>
              <a:t>, we should consider such complex semantics of C program code</a:t>
            </a:r>
          </a:p>
          <a:p>
            <a:endParaRPr lang="en-US" altLang="ko-KR" sz="3000" dirty="0">
              <a:latin typeface="Calibri" panose="020F0502020204030204" pitchFamily="34" charset="0"/>
            </a:endParaRPr>
          </a:p>
          <a:p>
            <a:endParaRPr lang="en-US" altLang="ko-KR" sz="3000" dirty="0">
              <a:latin typeface="Calibri" panose="020F0502020204030204" pitchFamily="34" charset="0"/>
            </a:endParaRPr>
          </a:p>
          <a:p>
            <a:endParaRPr lang="en-US" altLang="ko-KR" sz="3000" dirty="0">
              <a:latin typeface="Calibri" panose="020F0502020204030204" pitchFamily="34" charset="0"/>
            </a:endParaRPr>
          </a:p>
          <a:p>
            <a:endParaRPr lang="en-US" altLang="ko-KR" sz="3000" dirty="0">
              <a:latin typeface="Calibri" panose="020F0502020204030204" pitchFamily="34" charset="0"/>
            </a:endParaRPr>
          </a:p>
          <a:p>
            <a:endParaRPr lang="en-US" altLang="ko-KR" sz="3000" dirty="0">
              <a:latin typeface="Calibri" panose="020F0502020204030204" pitchFamily="34" charset="0"/>
            </a:endParaRPr>
          </a:p>
          <a:p>
            <a:endParaRPr lang="en-US" altLang="ko-KR" sz="2900" dirty="0">
              <a:latin typeface="Calibri" panose="020F0502020204030204" pitchFamily="34" charset="0"/>
            </a:endParaRPr>
          </a:p>
          <a:p>
            <a:endParaRPr lang="en-US" altLang="ko-KR" sz="2900" dirty="0">
              <a:latin typeface="Calibri" panose="020F0502020204030204" pitchFamily="34" charset="0"/>
            </a:endParaRPr>
          </a:p>
          <a:p>
            <a:endParaRPr lang="en-US" altLang="ko-KR" sz="2900" dirty="0">
              <a:latin typeface="Calibri" panose="020F0502020204030204" pitchFamily="34" charset="0"/>
            </a:endParaRPr>
          </a:p>
          <a:p>
            <a:endParaRPr lang="en-US" altLang="ko-KR" dirty="0">
              <a:latin typeface="Calibri" panose="020F0502020204030204" pitchFamily="34" charset="0"/>
            </a:endParaRPr>
          </a:p>
        </p:txBody>
      </p:sp>
      <p:sp>
        <p:nvSpPr>
          <p:cNvPr id="9" name="날짜 개체 틀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AAAB7-6ED6-42E5-9B61-97F35BB021DD}" type="datetime1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10" name="슬라이드 번호 개체 틀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68353-B0A7-475E-93BE-007D0D4F4505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107504" y="4149080"/>
            <a:ext cx="4104456" cy="181588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Calibri" panose="020F0502020204030204" pitchFamily="34" charset="0"/>
                <a:cs typeface="Courier New" panose="02070309020205020404" pitchFamily="49" charset="0"/>
              </a:rPr>
              <a:t>An example program</a:t>
            </a:r>
          </a:p>
          <a:p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1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example(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x){</a:t>
            </a:r>
          </a:p>
          <a:p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2  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a[10], b[10];</a:t>
            </a:r>
          </a:p>
          <a:p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3   … omitted code …</a:t>
            </a:r>
          </a:p>
          <a:p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4   // Want to check array bound</a:t>
            </a:r>
          </a:p>
          <a:p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5   b[</a:t>
            </a: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++a[x++]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]=0; </a:t>
            </a:r>
          </a:p>
          <a:p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6 …}</a:t>
            </a:r>
            <a:endParaRPr lang="ko-KR" alt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860032" y="3861048"/>
            <a:ext cx="4104456" cy="255454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Calibri" panose="020F0502020204030204" pitchFamily="34" charset="0"/>
                <a:cs typeface="Courier New" panose="02070309020205020404" pitchFamily="49" charset="0"/>
              </a:rPr>
              <a:t>An instrumented program rev. 2</a:t>
            </a:r>
          </a:p>
          <a:p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1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example(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*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a,int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x){</a:t>
            </a:r>
          </a:p>
          <a:p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2  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b[10];</a:t>
            </a:r>
          </a:p>
          <a:p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3   … omitted code …</a:t>
            </a:r>
          </a:p>
          <a:p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4   </a:t>
            </a:r>
            <a:r>
              <a:rPr lang="en-US" altLang="ko-KR" sz="16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tmp1=x++;</a:t>
            </a:r>
          </a:p>
          <a:p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5   </a:t>
            </a: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assert(</a:t>
            </a:r>
            <a:r>
              <a:rPr lang="en-US" altLang="ko-KR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tmp1&lt;10</a:t>
            </a: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6   </a:t>
            </a:r>
            <a:r>
              <a:rPr lang="en-US" altLang="ko-KR" sz="16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tmp2=++a[tmp1]</a:t>
            </a:r>
            <a:endParaRPr lang="en-US" altLang="ko-KR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7   </a:t>
            </a: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assert(</a:t>
            </a:r>
            <a:r>
              <a:rPr lang="en-US" altLang="ko-KR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tmp2&lt;10</a:t>
            </a: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9   b[</a:t>
            </a:r>
            <a:r>
              <a:rPr lang="en-US" altLang="ko-KR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tmp2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]=0;</a:t>
            </a:r>
          </a:p>
          <a:p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10 …}</a:t>
            </a:r>
            <a:endParaRPr lang="ko-KR" alt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오른쪽 화살표 7"/>
          <p:cNvSpPr/>
          <p:nvPr/>
        </p:nvSpPr>
        <p:spPr>
          <a:xfrm>
            <a:off x="4355976" y="4877001"/>
            <a:ext cx="360040" cy="360040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42117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Calibri" panose="020F0502020204030204" pitchFamily="34" charset="0"/>
              </a:rPr>
              <a:t>An Example of LLVM’s Use Cases (3/3)</a:t>
            </a:r>
            <a:endParaRPr lang="ko-KR" altLang="en-US" dirty="0">
              <a:latin typeface="Calibri" panose="020F0502020204030204" pitchFamily="34" charset="0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52528"/>
          </a:xfrm>
        </p:spPr>
        <p:txBody>
          <a:bodyPr>
            <a:normAutofit/>
          </a:bodyPr>
          <a:lstStyle/>
          <a:p>
            <a:r>
              <a:rPr lang="en-US" altLang="ko-KR" sz="2000" dirty="0">
                <a:latin typeface="Calibri" panose="020F0502020204030204" pitchFamily="34" charset="0"/>
              </a:rPr>
              <a:t>If we use LLVM to perform array bound check, we can simply instrument the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getelementptr</a:t>
            </a:r>
            <a:r>
              <a:rPr lang="en-US" altLang="ko-KR" sz="1800" dirty="0">
                <a:latin typeface="Calibri" panose="020F0502020204030204" pitchFamily="34" charset="0"/>
              </a:rPr>
              <a:t> </a:t>
            </a:r>
            <a:r>
              <a:rPr lang="en-US" altLang="ko-KR" sz="2000" dirty="0">
                <a:latin typeface="Calibri" panose="020F0502020204030204" pitchFamily="34" charset="0"/>
              </a:rPr>
              <a:t>instruction (LLVM instruction for array accesses) to check the 3</a:t>
            </a:r>
            <a:r>
              <a:rPr lang="en-US" altLang="ko-KR" sz="2000" baseline="30000" dirty="0">
                <a:latin typeface="Calibri" panose="020F0502020204030204" pitchFamily="34" charset="0"/>
              </a:rPr>
              <a:t>rd</a:t>
            </a:r>
            <a:r>
              <a:rPr lang="en-US" altLang="ko-KR" sz="2000" dirty="0">
                <a:latin typeface="Calibri" panose="020F0502020204030204" pitchFamily="34" charset="0"/>
              </a:rPr>
              <a:t> parameter (array index) of the instruction </a:t>
            </a:r>
          </a:p>
          <a:p>
            <a:pPr lvl="1"/>
            <a:r>
              <a:rPr lang="en-US" altLang="ko-KR" sz="1800" dirty="0">
                <a:latin typeface="Calibri" panose="020F0502020204030204" pitchFamily="34" charset="0"/>
              </a:rPr>
              <a:t>We do not suffer side effects because all side effects in C code are removed by LLVM front-end </a:t>
            </a:r>
          </a:p>
          <a:p>
            <a:endParaRPr lang="en-US" altLang="ko-KR" sz="2000" dirty="0">
              <a:latin typeface="Calibri" panose="020F0502020204030204" pitchFamily="34" charset="0"/>
            </a:endParaRPr>
          </a:p>
          <a:p>
            <a:endParaRPr lang="en-US" altLang="ko-KR" sz="3000" dirty="0">
              <a:latin typeface="Calibri" panose="020F0502020204030204" pitchFamily="34" charset="0"/>
            </a:endParaRPr>
          </a:p>
          <a:p>
            <a:endParaRPr lang="en-US" altLang="ko-KR" sz="3000" dirty="0">
              <a:latin typeface="Calibri" panose="020F0502020204030204" pitchFamily="34" charset="0"/>
            </a:endParaRPr>
          </a:p>
          <a:p>
            <a:endParaRPr lang="en-US" altLang="ko-KR" sz="3000" dirty="0">
              <a:latin typeface="Calibri" panose="020F0502020204030204" pitchFamily="34" charset="0"/>
            </a:endParaRPr>
          </a:p>
          <a:p>
            <a:endParaRPr lang="en-US" altLang="ko-KR" sz="3000" dirty="0">
              <a:latin typeface="Calibri" panose="020F0502020204030204" pitchFamily="34" charset="0"/>
            </a:endParaRPr>
          </a:p>
          <a:p>
            <a:endParaRPr lang="en-US" altLang="ko-KR" sz="3000" dirty="0">
              <a:latin typeface="Calibri" panose="020F0502020204030204" pitchFamily="34" charset="0"/>
            </a:endParaRPr>
          </a:p>
          <a:p>
            <a:endParaRPr lang="en-US" altLang="ko-KR" sz="2900" dirty="0">
              <a:latin typeface="Calibri" panose="020F0502020204030204" pitchFamily="34" charset="0"/>
            </a:endParaRPr>
          </a:p>
          <a:p>
            <a:endParaRPr lang="en-US" altLang="ko-KR" sz="2900" dirty="0">
              <a:latin typeface="Calibri" panose="020F0502020204030204" pitchFamily="34" charset="0"/>
            </a:endParaRPr>
          </a:p>
          <a:p>
            <a:endParaRPr lang="en-US" altLang="ko-KR" sz="2900" dirty="0">
              <a:latin typeface="Calibri" panose="020F0502020204030204" pitchFamily="34" charset="0"/>
            </a:endParaRPr>
          </a:p>
          <a:p>
            <a:endParaRPr lang="en-US" altLang="ko-KR" dirty="0">
              <a:latin typeface="Calibri" panose="020F0502020204030204" pitchFamily="34" charset="0"/>
            </a:endParaRPr>
          </a:p>
        </p:txBody>
      </p:sp>
      <p:sp>
        <p:nvSpPr>
          <p:cNvPr id="9" name="날짜 개체 틀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AAAB7-6ED6-42E5-9B61-97F35BB021DD}" type="datetime1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10" name="슬라이드 번호 개체 틀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68353-B0A7-475E-93BE-007D0D4F4505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107504" y="3924160"/>
            <a:ext cx="3744416" cy="13849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Calibri" panose="020F0502020204030204" pitchFamily="34" charset="0"/>
                <a:cs typeface="Courier New" panose="02070309020205020404" pitchFamily="49" charset="0"/>
              </a:rPr>
              <a:t>An example program</a:t>
            </a:r>
          </a:p>
          <a:p>
            <a:r>
              <a:rPr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1 </a:t>
            </a:r>
            <a:r>
              <a:rPr lang="en-US" altLang="ko-K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example(</a:t>
            </a:r>
            <a:r>
              <a:rPr lang="en-US" altLang="ko-K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*</a:t>
            </a:r>
            <a:r>
              <a:rPr lang="en-US" altLang="ko-K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a,int</a:t>
            </a:r>
            <a:r>
              <a:rPr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x){</a:t>
            </a:r>
          </a:p>
          <a:p>
            <a:r>
              <a:rPr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2   </a:t>
            </a:r>
            <a:r>
              <a:rPr lang="en-US" altLang="ko-K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b[10];</a:t>
            </a:r>
          </a:p>
          <a:p>
            <a:r>
              <a:rPr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3   // Want to check array bound</a:t>
            </a:r>
          </a:p>
          <a:p>
            <a:r>
              <a:rPr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4   b[</a:t>
            </a:r>
            <a:r>
              <a:rPr lang="en-US" altLang="ko-KR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++a[x++]</a:t>
            </a:r>
            <a:r>
              <a:rPr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]=0; </a:t>
            </a:r>
          </a:p>
          <a:p>
            <a:r>
              <a:rPr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5 …}</a:t>
            </a:r>
            <a:endParaRPr lang="ko-KR" alt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72000" y="2954665"/>
            <a:ext cx="4176464" cy="33239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Calibri" panose="020F0502020204030204" pitchFamily="34" charset="0"/>
                <a:cs typeface="Courier New" panose="02070309020205020404" pitchFamily="49" charset="0"/>
              </a:rPr>
              <a:t>LLVM </a:t>
            </a:r>
            <a:r>
              <a:rPr lang="en-US" altLang="ko-KR" sz="1400" dirty="0" err="1">
                <a:latin typeface="Calibri" panose="020F0502020204030204" pitchFamily="34" charset="0"/>
                <a:cs typeface="Courier New" panose="02070309020205020404" pitchFamily="49" charset="0"/>
              </a:rPr>
              <a:t>bytecode</a:t>
            </a:r>
            <a:r>
              <a:rPr lang="en-US" altLang="ko-KR" sz="1400" dirty="0">
                <a:latin typeface="Calibri" panose="020F0502020204030204" pitchFamily="34" charset="0"/>
                <a:cs typeface="Courier New" panose="02070309020205020404" pitchFamily="49" charset="0"/>
              </a:rPr>
              <a:t> (Simplified version)</a:t>
            </a:r>
          </a:p>
          <a:p>
            <a:r>
              <a:rPr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1 define i32 @example(i32 %x) {</a:t>
            </a:r>
          </a:p>
          <a:p>
            <a:r>
              <a:rPr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2   %1 = </a:t>
            </a:r>
            <a:r>
              <a:rPr lang="en-US" altLang="ko-K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alloca</a:t>
            </a:r>
            <a:r>
              <a:rPr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i32</a:t>
            </a:r>
          </a:p>
          <a:p>
            <a:r>
              <a:rPr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3   %a = </a:t>
            </a:r>
            <a:r>
              <a:rPr lang="en-US" altLang="ko-K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alloca</a:t>
            </a:r>
            <a:r>
              <a:rPr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[10 x i32]</a:t>
            </a:r>
          </a:p>
          <a:p>
            <a:r>
              <a:rPr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4   %b = </a:t>
            </a:r>
            <a:r>
              <a:rPr lang="en-US" altLang="ko-K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alloca</a:t>
            </a:r>
            <a:r>
              <a:rPr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[10 x i32]</a:t>
            </a:r>
          </a:p>
          <a:p>
            <a:r>
              <a:rPr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… omitted code …</a:t>
            </a:r>
          </a:p>
          <a:p>
            <a:r>
              <a:rPr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9   %4 = sext i32 %2 to i64</a:t>
            </a:r>
          </a:p>
          <a:p>
            <a:r>
              <a:rPr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10   %5 = </a:t>
            </a:r>
            <a:r>
              <a:rPr lang="en-US" altLang="ko-KR" sz="14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getelementptr</a:t>
            </a:r>
            <a:r>
              <a:rPr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[10 x i32], </a:t>
            </a:r>
          </a:p>
          <a:p>
            <a:r>
              <a:rPr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</a:t>
            </a:r>
            <a:r>
              <a:rPr lang="en-US" altLang="ko-K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%a</a:t>
            </a:r>
            <a:r>
              <a:rPr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i32 0, </a:t>
            </a:r>
            <a:r>
              <a:rPr lang="en-US" altLang="ko-KR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i64 %4 </a:t>
            </a:r>
          </a:p>
          <a:p>
            <a:r>
              <a:rPr lang="en-US" altLang="ko-KR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; access to array a[10]</a:t>
            </a:r>
          </a:p>
          <a:p>
            <a:r>
              <a:rPr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… omitted code …</a:t>
            </a:r>
          </a:p>
          <a:p>
            <a:r>
              <a:rPr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14   %8 = sext i32 %7 to i64</a:t>
            </a:r>
          </a:p>
          <a:p>
            <a:r>
              <a:rPr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15   %9 = </a:t>
            </a:r>
            <a:r>
              <a:rPr lang="en-US" altLang="ko-KR" sz="14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getelementptr</a:t>
            </a:r>
            <a:r>
              <a:rPr lang="en-US" altLang="ko-KR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[10 x i32], </a:t>
            </a:r>
          </a:p>
          <a:p>
            <a:r>
              <a:rPr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altLang="ko-K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%b</a:t>
            </a:r>
            <a:r>
              <a:rPr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i32 0, </a:t>
            </a:r>
            <a:r>
              <a:rPr lang="en-US" altLang="ko-KR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i64 %8</a:t>
            </a:r>
          </a:p>
          <a:p>
            <a:r>
              <a:rPr lang="en-US" altLang="ko-KR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; access to array b[10]</a:t>
            </a:r>
          </a:p>
        </p:txBody>
      </p:sp>
      <p:sp>
        <p:nvSpPr>
          <p:cNvPr id="5" name="오른쪽 화살표 4"/>
          <p:cNvSpPr/>
          <p:nvPr/>
        </p:nvSpPr>
        <p:spPr>
          <a:xfrm>
            <a:off x="3995936" y="4436638"/>
            <a:ext cx="504056" cy="360040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97594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C350EC-AEBA-5E83-F919-117FBE4BF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Sanitizers Supported by Clang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DBFAA4E-8596-E87D-2D29-51F8DA5223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altLang="ko-KR"/>
              <a:t>AddressSanitizer</a:t>
            </a:r>
          </a:p>
          <a:p>
            <a:pPr lvl="1"/>
            <a:r>
              <a:rPr lang="en-US" altLang="ko-KR"/>
              <a:t>Out-of-bounds accesses to heap, stack and globals, Use-after-free, Use-after-return, Use-after-scope, Double-free, invalid free</a:t>
            </a:r>
          </a:p>
          <a:p>
            <a:r>
              <a:rPr lang="en-US" altLang="ko-KR"/>
              <a:t>DataFlowSanitizer</a:t>
            </a:r>
          </a:p>
          <a:p>
            <a:pPr lvl="1"/>
            <a:r>
              <a:rPr lang="en-US" altLang="ko-KR"/>
              <a:t>it provides a generic dynamic data flow analysis framework to be used by clients to help detect application-specific issues within their own code.</a:t>
            </a:r>
          </a:p>
          <a:p>
            <a:r>
              <a:rPr lang="en-US" altLang="ko-KR"/>
              <a:t>LeakSanitizer</a:t>
            </a:r>
          </a:p>
          <a:p>
            <a:r>
              <a:rPr lang="en-US" altLang="ko-KR"/>
              <a:t>MemorySanitizer (detector of uninitialized reads)</a:t>
            </a:r>
          </a:p>
          <a:p>
            <a:r>
              <a:rPr lang="en-US" altLang="ko-KR"/>
              <a:t>ThreadSanitizer (</a:t>
            </a:r>
            <a:r>
              <a:rPr lang="en-US" altLang="ko-KR" b="0" i="0">
                <a:solidFill>
                  <a:srgbClr val="333333"/>
                </a:solidFill>
                <a:effectLst/>
                <a:latin typeface="DejaVu Sans"/>
              </a:rPr>
              <a:t>detects data races)</a:t>
            </a:r>
            <a:endParaRPr lang="en-US" altLang="ko-KR"/>
          </a:p>
          <a:p>
            <a:r>
              <a:rPr lang="en-US" altLang="ko-KR"/>
              <a:t>UndefinedBehaviorSanitizer (i.e., detecting runtime failures)</a:t>
            </a:r>
          </a:p>
          <a:p>
            <a:pPr lvl="1"/>
            <a:r>
              <a:rPr lang="en-US" altLang="ko-KR"/>
              <a:t>Bitwise shifts that are out of bounds for their data type, Dereferencing misaligned or null pointers, Signed integer overflow, Conversion to, from, or between floating-point types which would overflow the destination</a:t>
            </a:r>
            <a:endParaRPr lang="ko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45036C1-14B6-DCC5-6FEA-E8236E51A4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90247-ED09-491E-9F92-3742F511CFC8}" type="datetime1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CF303E6-724B-3E97-F8D9-6A365E534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68353-B0A7-475E-93BE-007D0D4F4505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37076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1111</TotalTime>
  <Words>1102</Words>
  <Application>Microsoft Office PowerPoint</Application>
  <PresentationFormat>화면 슬라이드 쇼(4:3)</PresentationFormat>
  <Paragraphs>159</Paragraphs>
  <Slides>7</Slides>
  <Notes>0</Notes>
  <HiddenSlides>1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3" baseType="lpstr">
      <vt:lpstr>DejaVu Sans</vt:lpstr>
      <vt:lpstr>맑은 고딕</vt:lpstr>
      <vt:lpstr>Arial</vt:lpstr>
      <vt:lpstr>Calibri</vt:lpstr>
      <vt:lpstr>Courier New</vt:lpstr>
      <vt:lpstr>Office 테마</vt:lpstr>
      <vt:lpstr>Clang v.s. LLVM</vt:lpstr>
      <vt:lpstr>Comparison of Clang and LLVM</vt:lpstr>
      <vt:lpstr>An Example of Clang’s Use Cases</vt:lpstr>
      <vt:lpstr>An Example of LLVM’s Use Cases (1/3)</vt:lpstr>
      <vt:lpstr>An Example of LLVM’s Use Cases (2/3)</vt:lpstr>
      <vt:lpstr>An Example of LLVM’s Use Cases (3/3)</vt:lpstr>
      <vt:lpstr>Sanitizers Supported by Clang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yhkim</dc:creator>
  <cp:lastModifiedBy>Ahcheong Lee</cp:lastModifiedBy>
  <cp:revision>54</cp:revision>
  <dcterms:created xsi:type="dcterms:W3CDTF">2014-11-03T12:47:16Z</dcterms:created>
  <dcterms:modified xsi:type="dcterms:W3CDTF">2026-09-22T06:47:07Z</dcterms:modified>
</cp:coreProperties>
</file>